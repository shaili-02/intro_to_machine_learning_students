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85" r:id="rId2"/>
    <p:sldId id="286" r:id="rId3"/>
    <p:sldId id="287" r:id="rId4"/>
    <p:sldId id="288" r:id="rId5"/>
    <p:sldId id="291" r:id="rId6"/>
    <p:sldId id="289" r:id="rId7"/>
    <p:sldId id="290" r:id="rId8"/>
    <p:sldId id="292" r:id="rId9"/>
    <p:sldId id="307" r:id="rId10"/>
    <p:sldId id="308" r:id="rId11"/>
    <p:sldId id="256" r:id="rId12"/>
    <p:sldId id="257" r:id="rId13"/>
    <p:sldId id="271" r:id="rId14"/>
    <p:sldId id="303" r:id="rId15"/>
    <p:sldId id="270" r:id="rId16"/>
    <p:sldId id="272" r:id="rId17"/>
    <p:sldId id="304" r:id="rId18"/>
    <p:sldId id="258" r:id="rId19"/>
    <p:sldId id="259" r:id="rId20"/>
    <p:sldId id="305" r:id="rId21"/>
    <p:sldId id="261" r:id="rId22"/>
    <p:sldId id="263" r:id="rId23"/>
    <p:sldId id="266" r:id="rId24"/>
    <p:sldId id="260" r:id="rId25"/>
    <p:sldId id="267" r:id="rId26"/>
    <p:sldId id="273" r:id="rId27"/>
    <p:sldId id="276" r:id="rId28"/>
    <p:sldId id="268" r:id="rId29"/>
    <p:sldId id="262" r:id="rId30"/>
    <p:sldId id="269" r:id="rId31"/>
    <p:sldId id="264" r:id="rId32"/>
    <p:sldId id="275" r:id="rId33"/>
    <p:sldId id="274" r:id="rId34"/>
    <p:sldId id="265" r:id="rId35"/>
    <p:sldId id="277" r:id="rId36"/>
    <p:sldId id="279" r:id="rId37"/>
    <p:sldId id="306" r:id="rId38"/>
    <p:sldId id="293" r:id="rId39"/>
    <p:sldId id="278" r:id="rId40"/>
    <p:sldId id="296" r:id="rId41"/>
    <p:sldId id="297" r:id="rId42"/>
    <p:sldId id="309" r:id="rId43"/>
    <p:sldId id="280" r:id="rId44"/>
    <p:sldId id="298" r:id="rId45"/>
    <p:sldId id="281" r:id="rId46"/>
    <p:sldId id="294" r:id="rId47"/>
    <p:sldId id="295" r:id="rId48"/>
    <p:sldId id="299" r:id="rId49"/>
    <p:sldId id="283" r:id="rId50"/>
    <p:sldId id="301" r:id="rId51"/>
    <p:sldId id="282" r:id="rId52"/>
    <p:sldId id="302" r:id="rId53"/>
    <p:sldId id="284"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27"/>
    <p:restoredTop sz="96327"/>
  </p:normalViewPr>
  <p:slideViewPr>
    <p:cSldViewPr snapToGrid="0" snapToObjects="1">
      <p:cViewPr varScale="1">
        <p:scale>
          <a:sx n="205" d="100"/>
          <a:sy n="205" d="100"/>
        </p:scale>
        <p:origin x="20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0E5C29-DB8F-DF48-8AC1-D7AEB99B7F3A}" type="datetimeFigureOut">
              <a:rPr lang="en-US" smtClean="0"/>
              <a:t>3/25/26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27886009-0DEE-1043-9A41-389E48DF8120}"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36465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0E5C29-DB8F-DF48-8AC1-D7AEB99B7F3A}" type="datetimeFigureOut">
              <a:rPr lang="en-US" smtClean="0"/>
              <a:t>3/25/26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86009-0DEE-1043-9A41-389E48DF8120}"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85305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0E5C29-DB8F-DF48-8AC1-D7AEB99B7F3A}" type="datetimeFigureOut">
              <a:rPr lang="en-US" smtClean="0"/>
              <a:t>3/25/26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86009-0DEE-1043-9A41-389E48DF8120}"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70047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0E5C29-DB8F-DF48-8AC1-D7AEB99B7F3A}" type="datetimeFigureOut">
              <a:rPr lang="en-US" smtClean="0"/>
              <a:t>3/25/26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886009-0DEE-1043-9A41-389E48DF8120}"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38759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0E5C29-DB8F-DF48-8AC1-D7AEB99B7F3A}" type="datetimeFigureOut">
              <a:rPr lang="en-US" smtClean="0"/>
              <a:t>3/25/26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886009-0DEE-1043-9A41-389E48DF8120}"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033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0E5C29-DB8F-DF48-8AC1-D7AEB99B7F3A}" type="datetimeFigureOut">
              <a:rPr lang="en-US" smtClean="0"/>
              <a:t>3/25/26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886009-0DEE-1043-9A41-389E48DF8120}"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62040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0E5C29-DB8F-DF48-8AC1-D7AEB99B7F3A}" type="datetimeFigureOut">
              <a:rPr lang="en-US" smtClean="0"/>
              <a:t>3/25/26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886009-0DEE-1043-9A41-389E48DF8120}" type="slidenum">
              <a:rPr lang="en-US" smtClean="0"/>
              <a:t>‹#›</a:t>
            </a:fld>
            <a:endParaRPr lang="en-US"/>
          </a:p>
        </p:txBody>
      </p:sp>
    </p:spTree>
    <p:extLst>
      <p:ext uri="{BB962C8B-B14F-4D97-AF65-F5344CB8AC3E}">
        <p14:creationId xmlns:p14="http://schemas.microsoft.com/office/powerpoint/2010/main" val="1174047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0E5C29-DB8F-DF48-8AC1-D7AEB99B7F3A}" type="datetimeFigureOut">
              <a:rPr lang="en-US" smtClean="0"/>
              <a:t>3/25/26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886009-0DEE-1043-9A41-389E48DF8120}"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8183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FA0E5C29-DB8F-DF48-8AC1-D7AEB99B7F3A}" type="datetimeFigureOut">
              <a:rPr lang="en-US" smtClean="0"/>
              <a:t>3/25/26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27886009-0DEE-1043-9A41-389E48DF8120}"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33563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0E5C29-DB8F-DF48-8AC1-D7AEB99B7F3A}" type="datetimeFigureOut">
              <a:rPr lang="en-US" smtClean="0"/>
              <a:t>3/25/26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86009-0DEE-1043-9A41-389E48DF8120}"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46482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0E5C29-DB8F-DF48-8AC1-D7AEB99B7F3A}" type="datetimeFigureOut">
              <a:rPr lang="en-US" smtClean="0"/>
              <a:t>3/25/26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86009-0DEE-1043-9A41-389E48DF8120}"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24623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FA0E5C29-DB8F-DF48-8AC1-D7AEB99B7F3A}" type="datetimeFigureOut">
              <a:rPr lang="en-US" smtClean="0"/>
              <a:t>3/25/26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7886009-0DEE-1043-9A41-389E48DF8120}"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73326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youtube.com/watch?v=WXuK6gekU1Y" TargetMode="External"/><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hyperlink" Target="https://www.wired.co.uk/article/deepmind-atari-learning-sequential-memory-ewc"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F1084-0B2B-6A76-E87F-5387931E425B}"/>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0E92E28F-116B-207E-FA19-79DE7CFC2292}"/>
              </a:ext>
            </a:extLst>
          </p:cNvPr>
          <p:cNvSpPr>
            <a:spLocks noGrp="1"/>
          </p:cNvSpPr>
          <p:nvPr>
            <p:ph idx="1"/>
          </p:nvPr>
        </p:nvSpPr>
        <p:spPr>
          <a:xfrm>
            <a:off x="1451579" y="1853754"/>
            <a:ext cx="10366047" cy="4310670"/>
          </a:xfrm>
        </p:spPr>
        <p:txBody>
          <a:bodyPr>
            <a:normAutofit/>
          </a:bodyPr>
          <a:lstStyle/>
          <a:p>
            <a:r>
              <a:rPr lang="en-US" dirty="0"/>
              <a:t>Main event – transfer learning (pull – </a:t>
            </a:r>
            <a:r>
              <a:rPr lang="en-US" dirty="0" err="1"/>
              <a:t>workbork</a:t>
            </a:r>
            <a:r>
              <a:rPr lang="en-US" dirty="0"/>
              <a:t> 027 is revised.)</a:t>
            </a:r>
          </a:p>
          <a:p>
            <a:pPr lvl="1"/>
            <a:r>
              <a:rPr lang="en-US" dirty="0"/>
              <a:t>Using transfer learning, chopping up models, needing grads, fine tuning. </a:t>
            </a:r>
          </a:p>
          <a:p>
            <a:r>
              <a:rPr lang="en-US" dirty="0"/>
              <a:t>Review, questions, anything on CNNs (or other NN stuff). </a:t>
            </a:r>
          </a:p>
          <a:p>
            <a:pPr lvl="1"/>
            <a:r>
              <a:rPr lang="en-US" dirty="0"/>
              <a:t>Datasets and shapes, conv layers, running trials (maybe w/ </a:t>
            </a:r>
            <a:r>
              <a:rPr lang="en-US" dirty="0" err="1"/>
              <a:t>r.t.</a:t>
            </a:r>
            <a:r>
              <a:rPr lang="en-US" dirty="0"/>
              <a:t>), loss, output layer, </a:t>
            </a:r>
            <a:r>
              <a:rPr lang="en-US" dirty="0" err="1"/>
              <a:t>etc</a:t>
            </a:r>
            <a:r>
              <a:rPr lang="en-US" dirty="0"/>
              <a:t>…</a:t>
            </a:r>
          </a:p>
          <a:p>
            <a:pPr lvl="1"/>
            <a:r>
              <a:rPr lang="en-US" dirty="0"/>
              <a:t>The last project will be image classification, so if something doesn’t make sense, ask. </a:t>
            </a:r>
          </a:p>
          <a:p>
            <a:pPr lvl="1"/>
            <a:r>
              <a:rPr lang="en-US" dirty="0"/>
              <a:t>The project will also be slightly larger in scale, so tools (stopping, </a:t>
            </a:r>
            <a:r>
              <a:rPr lang="en-US" dirty="0" err="1"/>
              <a:t>t.b.</a:t>
            </a:r>
            <a:r>
              <a:rPr lang="en-US" dirty="0"/>
              <a:t>, saving weights…) may help. </a:t>
            </a:r>
          </a:p>
          <a:p>
            <a:r>
              <a:rPr lang="en-US" dirty="0"/>
              <a:t>Next week – time series and RNN models. </a:t>
            </a:r>
          </a:p>
          <a:p>
            <a:pPr lvl="1"/>
            <a:r>
              <a:rPr lang="en-US" dirty="0"/>
              <a:t>Time series predictions and more advanced NLP models. </a:t>
            </a:r>
          </a:p>
          <a:p>
            <a:pPr lvl="1"/>
            <a:r>
              <a:rPr lang="en-US" dirty="0"/>
              <a:t>This leads into generative text models (week after-</a:t>
            </a:r>
            <a:r>
              <a:rPr lang="en-US" dirty="0" err="1"/>
              <a:t>ish</a:t>
            </a:r>
            <a:r>
              <a:rPr lang="en-US" dirty="0"/>
              <a:t>). </a:t>
            </a:r>
          </a:p>
          <a:p>
            <a:r>
              <a:rPr lang="en-US" dirty="0"/>
              <a:t>I’ll finish marking the last assignment this weekend, sorry, I had to mark tones of Tableau. </a:t>
            </a:r>
          </a:p>
          <a:p>
            <a:pPr lvl="1"/>
            <a:endParaRPr lang="en-US" dirty="0"/>
          </a:p>
        </p:txBody>
      </p:sp>
    </p:spTree>
    <p:extLst>
      <p:ext uri="{BB962C8B-B14F-4D97-AF65-F5344CB8AC3E}">
        <p14:creationId xmlns:p14="http://schemas.microsoft.com/office/powerpoint/2010/main" val="3158850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B9ACB-33F9-35CE-DCDA-452909A29FFB}"/>
              </a:ext>
            </a:extLst>
          </p:cNvPr>
          <p:cNvSpPr>
            <a:spLocks noGrp="1"/>
          </p:cNvSpPr>
          <p:nvPr>
            <p:ph type="title"/>
          </p:nvPr>
        </p:nvSpPr>
        <p:spPr/>
        <p:txBody>
          <a:bodyPr/>
          <a:lstStyle/>
          <a:p>
            <a:r>
              <a:rPr lang="en-US" dirty="0"/>
              <a:t>AI is having a Moment…</a:t>
            </a:r>
          </a:p>
        </p:txBody>
      </p:sp>
      <p:sp>
        <p:nvSpPr>
          <p:cNvPr id="3" name="Content Placeholder 2">
            <a:extLst>
              <a:ext uri="{FF2B5EF4-FFF2-40B4-BE49-F238E27FC236}">
                <a16:creationId xmlns:a16="http://schemas.microsoft.com/office/drawing/2014/main" id="{9D4F6043-D769-D81B-C8D8-4763819CDA3E}"/>
              </a:ext>
            </a:extLst>
          </p:cNvPr>
          <p:cNvSpPr>
            <a:spLocks noGrp="1"/>
          </p:cNvSpPr>
          <p:nvPr>
            <p:ph idx="1"/>
          </p:nvPr>
        </p:nvSpPr>
        <p:spPr>
          <a:xfrm>
            <a:off x="1451579" y="1853754"/>
            <a:ext cx="9603275" cy="4262374"/>
          </a:xfrm>
        </p:spPr>
        <p:txBody>
          <a:bodyPr/>
          <a:lstStyle/>
          <a:p>
            <a:r>
              <a:rPr lang="en-US" dirty="0"/>
              <a:t>I used to use an example in 3320 of the US military using large-scale AI to find targets. </a:t>
            </a:r>
          </a:p>
          <a:p>
            <a:pPr lvl="1"/>
            <a:r>
              <a:rPr lang="en-US" dirty="0"/>
              <a:t>Do a sweep of mass data collection – cell phones, demographic data, </a:t>
            </a:r>
            <a:r>
              <a:rPr lang="en-US" dirty="0" err="1"/>
              <a:t>etc</a:t>
            </a:r>
            <a:r>
              <a:rPr lang="en-US" dirty="0"/>
              <a:t>…</a:t>
            </a:r>
          </a:p>
          <a:p>
            <a:pPr lvl="1"/>
            <a:r>
              <a:rPr lang="en-US" dirty="0"/>
              <a:t>Identify which of those people are “terror likely”, then drone them. </a:t>
            </a:r>
          </a:p>
          <a:p>
            <a:r>
              <a:rPr lang="en-US" dirty="0"/>
              <a:t>The US military denied this and said all strikes are human decision based. </a:t>
            </a:r>
          </a:p>
          <a:p>
            <a:r>
              <a:rPr lang="en-US" dirty="0"/>
              <a:t>Raises the question of how people are being connected – which features matter. </a:t>
            </a:r>
          </a:p>
          <a:p>
            <a:pPr lvl="1"/>
            <a:r>
              <a:rPr lang="en-US" dirty="0"/>
              <a:t>Data is collected over a large population, so most is stuff you can get in bulk. </a:t>
            </a:r>
          </a:p>
          <a:p>
            <a:pPr lvl="1"/>
            <a:r>
              <a:rPr lang="en-US" dirty="0"/>
              <a:t>Terrorists, generally, hide their terrorist activities to the public. </a:t>
            </a:r>
          </a:p>
          <a:p>
            <a:pPr lvl="1"/>
            <a:r>
              <a:rPr lang="en-US" dirty="0"/>
              <a:t>If the target is “already labeled terrorist” and the features are “things about this population”, I’d bet that things like phone location and family/school/workplace connections weight heavily. </a:t>
            </a:r>
          </a:p>
          <a:p>
            <a:pPr lvl="1"/>
            <a:r>
              <a:rPr lang="en-US" dirty="0"/>
              <a:t>I’d really suspect that everyone killed is labeled as a “TRUE” for the next training loop…</a:t>
            </a:r>
          </a:p>
        </p:txBody>
      </p:sp>
    </p:spTree>
    <p:extLst>
      <p:ext uri="{BB962C8B-B14F-4D97-AF65-F5344CB8AC3E}">
        <p14:creationId xmlns:p14="http://schemas.microsoft.com/office/powerpoint/2010/main" val="1724816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A8D43-E1E5-8D0F-EED5-40C66B387FF8}"/>
              </a:ext>
            </a:extLst>
          </p:cNvPr>
          <p:cNvSpPr>
            <a:spLocks noGrp="1"/>
          </p:cNvSpPr>
          <p:nvPr>
            <p:ph type="title"/>
          </p:nvPr>
        </p:nvSpPr>
        <p:spPr>
          <a:xfrm>
            <a:off x="60385" y="804519"/>
            <a:ext cx="12131615" cy="1049235"/>
          </a:xfrm>
        </p:spPr>
        <p:txBody>
          <a:bodyPr/>
          <a:lstStyle/>
          <a:p>
            <a:r>
              <a:rPr lang="en-US" dirty="0"/>
              <a:t>Enter “The Gospel”, “Lavender”, and “Where’s Daddy”?</a:t>
            </a:r>
          </a:p>
        </p:txBody>
      </p:sp>
      <p:sp>
        <p:nvSpPr>
          <p:cNvPr id="3" name="Content Placeholder 2">
            <a:extLst>
              <a:ext uri="{FF2B5EF4-FFF2-40B4-BE49-F238E27FC236}">
                <a16:creationId xmlns:a16="http://schemas.microsoft.com/office/drawing/2014/main" id="{C49D7F9F-8A1C-22D5-98F4-881CE8007836}"/>
              </a:ext>
            </a:extLst>
          </p:cNvPr>
          <p:cNvSpPr>
            <a:spLocks noGrp="1"/>
          </p:cNvSpPr>
          <p:nvPr>
            <p:ph idx="1"/>
          </p:nvPr>
        </p:nvSpPr>
        <p:spPr>
          <a:xfrm>
            <a:off x="353683" y="1853755"/>
            <a:ext cx="11723298" cy="4199726"/>
          </a:xfrm>
        </p:spPr>
        <p:txBody>
          <a:bodyPr/>
          <a:lstStyle/>
          <a:p>
            <a:r>
              <a:rPr lang="en-US" dirty="0"/>
              <a:t>Since the bombing in Gaza started, Israel’s use of AI in targeting has emerged. </a:t>
            </a:r>
          </a:p>
          <a:p>
            <a:pPr lvl="1"/>
            <a:r>
              <a:rPr lang="en-US" dirty="0"/>
              <a:t>https://www.972mag.com/lavender-ai-</a:t>
            </a:r>
            <a:r>
              <a:rPr lang="en-US" dirty="0" err="1"/>
              <a:t>israeli</a:t>
            </a:r>
            <a:r>
              <a:rPr lang="en-US" dirty="0"/>
              <a:t>-army-</a:t>
            </a:r>
            <a:r>
              <a:rPr lang="en-US" dirty="0" err="1"/>
              <a:t>gaza</a:t>
            </a:r>
            <a:r>
              <a:rPr lang="en-US" dirty="0"/>
              <a:t>/</a:t>
            </a:r>
          </a:p>
          <a:p>
            <a:r>
              <a:rPr lang="en-US" dirty="0"/>
              <a:t>Several systems are used to identify who and where should be bombed. </a:t>
            </a:r>
          </a:p>
          <a:p>
            <a:pPr lvl="1"/>
            <a:r>
              <a:rPr lang="en-US" dirty="0"/>
              <a:t>… examples of the “hundreds and thousands” of features that can increase an individual’s rating, such as being in a </a:t>
            </a:r>
            <a:r>
              <a:rPr lang="en-US" dirty="0" err="1"/>
              <a:t>Whatsapp</a:t>
            </a:r>
            <a:r>
              <a:rPr lang="en-US" dirty="0"/>
              <a:t> group with a known militant, changing cell phone every few months, and changing addresses frequently.”</a:t>
            </a:r>
          </a:p>
          <a:p>
            <a:pPr lvl="1"/>
            <a:r>
              <a:rPr lang="en-US" dirty="0"/>
              <a:t>The Lavender software analyzes information … of the 2.3 million residents of the Gaza Strip through … mass surveillance, then assesses and ranks the likelihood that each person is active in the military wing of Hamas or PIJ.</a:t>
            </a:r>
          </a:p>
          <a:p>
            <a:r>
              <a:rPr lang="en-US" dirty="0"/>
              <a:t>Reporting says that targets were identified at a fast rate, with near 0 human oversight. </a:t>
            </a:r>
          </a:p>
        </p:txBody>
      </p:sp>
      <p:pic>
        <p:nvPicPr>
          <p:cNvPr id="6146" name="Picture 2" descr="Slides from a lecture presentation by the commander of IDF Unit 8200’s Data Science and AI center at Tel Aviv University in 2023, obtained by +972 and Local Call.">
            <a:extLst>
              <a:ext uri="{FF2B5EF4-FFF2-40B4-BE49-F238E27FC236}">
                <a16:creationId xmlns:a16="http://schemas.microsoft.com/office/drawing/2014/main" id="{E8D6F793-AF06-4747-66DD-5A7899575C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000" t="33186" r="18036" b="41410"/>
          <a:stretch/>
        </p:blipFill>
        <p:spPr bwMode="auto">
          <a:xfrm>
            <a:off x="4637314" y="5181600"/>
            <a:ext cx="7554686"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7392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6149B-A508-1AF5-978E-3B8C901ABF06}"/>
              </a:ext>
            </a:extLst>
          </p:cNvPr>
          <p:cNvSpPr>
            <a:spLocks noGrp="1"/>
          </p:cNvSpPr>
          <p:nvPr>
            <p:ph type="title"/>
          </p:nvPr>
        </p:nvSpPr>
        <p:spPr>
          <a:xfrm>
            <a:off x="1451579" y="804519"/>
            <a:ext cx="9603275" cy="1049235"/>
          </a:xfrm>
        </p:spPr>
        <p:txBody>
          <a:bodyPr>
            <a:normAutofit/>
          </a:bodyPr>
          <a:lstStyle/>
          <a:p>
            <a:r>
              <a:rPr lang="en-US" dirty="0"/>
              <a:t>There’s also Robots…</a:t>
            </a:r>
          </a:p>
        </p:txBody>
      </p:sp>
      <p:sp>
        <p:nvSpPr>
          <p:cNvPr id="3" name="Content Placeholder 2">
            <a:extLst>
              <a:ext uri="{FF2B5EF4-FFF2-40B4-BE49-F238E27FC236}">
                <a16:creationId xmlns:a16="http://schemas.microsoft.com/office/drawing/2014/main" id="{0ABF0A67-8611-6369-2AD2-88BBA121C62D}"/>
              </a:ext>
            </a:extLst>
          </p:cNvPr>
          <p:cNvSpPr>
            <a:spLocks noGrp="1"/>
          </p:cNvSpPr>
          <p:nvPr>
            <p:ph idx="1"/>
          </p:nvPr>
        </p:nvSpPr>
        <p:spPr>
          <a:xfrm>
            <a:off x="117948" y="1853754"/>
            <a:ext cx="7113610" cy="4199727"/>
          </a:xfrm>
        </p:spPr>
        <p:txBody>
          <a:bodyPr>
            <a:normAutofit/>
          </a:bodyPr>
          <a:lstStyle/>
          <a:p>
            <a:r>
              <a:rPr lang="en-US" dirty="0"/>
              <a:t>AI control also extends to an assortment of robots. </a:t>
            </a:r>
          </a:p>
          <a:p>
            <a:r>
              <a:rPr lang="en-US" dirty="0"/>
              <a:t>These things may be human controlled now, but companies advertise that they can do everything autonomously. </a:t>
            </a:r>
          </a:p>
          <a:p>
            <a:pPr lvl="1"/>
            <a:r>
              <a:rPr lang="en-US" dirty="0"/>
              <a:t>Track people, enter building, lay in wait, kill – all via AI. </a:t>
            </a:r>
          </a:p>
          <a:p>
            <a:pPr lvl="1"/>
            <a:r>
              <a:rPr lang="en-US" dirty="0"/>
              <a:t>Regular consumer drones/robots can do all this now except for the “boom” part, so it is realistic. </a:t>
            </a:r>
          </a:p>
          <a:p>
            <a:r>
              <a:rPr lang="en-US" dirty="0"/>
              <a:t>The current US admin will probably cause this to explode. </a:t>
            </a:r>
          </a:p>
        </p:txBody>
      </p:sp>
      <p:pic>
        <p:nvPicPr>
          <p:cNvPr id="7170" name="Picture 2" descr="Israel used world's first AI-guided combat drone swarm in Gaza attacks |  New Scientist">
            <a:extLst>
              <a:ext uri="{FF2B5EF4-FFF2-40B4-BE49-F238E27FC236}">
                <a16:creationId xmlns:a16="http://schemas.microsoft.com/office/drawing/2014/main" id="{4417A4E0-CE31-CAFA-00A4-4F7768D85E3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231557" y="2558493"/>
            <a:ext cx="4960443" cy="279024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srael recruits robot dogs for Gaza fighting - Globes">
            <a:extLst>
              <a:ext uri="{FF2B5EF4-FFF2-40B4-BE49-F238E27FC236}">
                <a16:creationId xmlns:a16="http://schemas.microsoft.com/office/drawing/2014/main" id="{76F3CF80-EC08-8CCF-1E97-36AFAD9A58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9504" y="30886"/>
            <a:ext cx="4724549" cy="2315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575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5F4DC-5BBD-2F9E-292C-4918A990BF64}"/>
              </a:ext>
            </a:extLst>
          </p:cNvPr>
          <p:cNvSpPr>
            <a:spLocks noGrp="1"/>
          </p:cNvSpPr>
          <p:nvPr>
            <p:ph type="title"/>
          </p:nvPr>
        </p:nvSpPr>
        <p:spPr/>
        <p:txBody>
          <a:bodyPr/>
          <a:lstStyle/>
          <a:p>
            <a:r>
              <a:rPr lang="en-US" dirty="0"/>
              <a:t>And additional “AI is Going to do…”</a:t>
            </a:r>
          </a:p>
        </p:txBody>
      </p:sp>
      <p:sp>
        <p:nvSpPr>
          <p:cNvPr id="3" name="Content Placeholder 2">
            <a:extLst>
              <a:ext uri="{FF2B5EF4-FFF2-40B4-BE49-F238E27FC236}">
                <a16:creationId xmlns:a16="http://schemas.microsoft.com/office/drawing/2014/main" id="{C685782B-9EB0-7EA8-7FF4-2647D70485CB}"/>
              </a:ext>
            </a:extLst>
          </p:cNvPr>
          <p:cNvSpPr>
            <a:spLocks noGrp="1"/>
          </p:cNvSpPr>
          <p:nvPr>
            <p:ph idx="1"/>
          </p:nvPr>
        </p:nvSpPr>
        <p:spPr/>
        <p:txBody>
          <a:bodyPr/>
          <a:lstStyle/>
          <a:p>
            <a:r>
              <a:rPr lang="en-US" dirty="0"/>
              <a:t>Musk and crew have said they’ll use AI for find waste and excess employees. </a:t>
            </a:r>
          </a:p>
          <a:p>
            <a:pPr lvl="1"/>
            <a:r>
              <a:rPr lang="en-US" dirty="0"/>
              <a:t>There are no details on exactly how the AI is doing anything. </a:t>
            </a:r>
          </a:p>
        </p:txBody>
      </p:sp>
    </p:spTree>
    <p:extLst>
      <p:ext uri="{BB962C8B-B14F-4D97-AF65-F5344CB8AC3E}">
        <p14:creationId xmlns:p14="http://schemas.microsoft.com/office/powerpoint/2010/main" val="505929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82F3D-0CEC-984A-BD5E-0B3D61C230BD}"/>
              </a:ext>
            </a:extLst>
          </p:cNvPr>
          <p:cNvSpPr>
            <a:spLocks noGrp="1"/>
          </p:cNvSpPr>
          <p:nvPr>
            <p:ph type="title"/>
          </p:nvPr>
        </p:nvSpPr>
        <p:spPr/>
        <p:txBody>
          <a:bodyPr/>
          <a:lstStyle/>
          <a:p>
            <a:r>
              <a:rPr lang="en-US" dirty="0"/>
              <a:t>This will Likely be a problem…</a:t>
            </a:r>
          </a:p>
        </p:txBody>
      </p:sp>
      <p:sp>
        <p:nvSpPr>
          <p:cNvPr id="3" name="Content Placeholder 2">
            <a:extLst>
              <a:ext uri="{FF2B5EF4-FFF2-40B4-BE49-F238E27FC236}">
                <a16:creationId xmlns:a16="http://schemas.microsoft.com/office/drawing/2014/main" id="{8D272DDB-7AB9-705A-39FA-F17D5DA41A20}"/>
              </a:ext>
            </a:extLst>
          </p:cNvPr>
          <p:cNvSpPr>
            <a:spLocks noGrp="1"/>
          </p:cNvSpPr>
          <p:nvPr>
            <p:ph idx="1"/>
          </p:nvPr>
        </p:nvSpPr>
        <p:spPr>
          <a:xfrm>
            <a:off x="448574" y="1853754"/>
            <a:ext cx="11576649" cy="4262374"/>
          </a:xfrm>
        </p:spPr>
        <p:txBody>
          <a:bodyPr>
            <a:normAutofit/>
          </a:bodyPr>
          <a:lstStyle/>
          <a:p>
            <a:r>
              <a:rPr lang="en-US" dirty="0"/>
              <a:t>Automated death robots seem somewhat concerning. </a:t>
            </a:r>
          </a:p>
          <a:p>
            <a:pPr lvl="1"/>
            <a:r>
              <a:rPr lang="en-US" dirty="0"/>
              <a:t>The (resource) bar to do all of this is also often quite low, so it won’t just be governments. </a:t>
            </a:r>
          </a:p>
          <a:p>
            <a:r>
              <a:rPr lang="en-US" dirty="0"/>
              <a:t>Details are rarely, if ever, public, but I’d guess that the important factors are tenuous. </a:t>
            </a:r>
          </a:p>
          <a:p>
            <a:pPr lvl="1"/>
            <a:r>
              <a:rPr lang="en-US" dirty="0"/>
              <a:t>Collecting metrics on if someone is “doing terrorism” is probably slow and hard. </a:t>
            </a:r>
          </a:p>
          <a:p>
            <a:pPr lvl="1"/>
            <a:r>
              <a:rPr lang="en-US" dirty="0"/>
              <a:t>A slightly earlier article said that targets identified went from 50/</a:t>
            </a:r>
            <a:r>
              <a:rPr lang="en-US" dirty="0" err="1"/>
              <a:t>yr</a:t>
            </a:r>
            <a:r>
              <a:rPr lang="en-US" dirty="0"/>
              <a:t> to 100/day. </a:t>
            </a:r>
          </a:p>
          <a:p>
            <a:pPr lvl="1"/>
            <a:r>
              <a:rPr lang="en-US" dirty="0"/>
              <a:t>Collecting location, phone, internet, </a:t>
            </a:r>
            <a:r>
              <a:rPr lang="en-US" dirty="0" err="1"/>
              <a:t>etc</a:t>
            </a:r>
            <a:r>
              <a:rPr lang="en-US" dirty="0"/>
              <a:t>… records is easy and fast. </a:t>
            </a:r>
          </a:p>
          <a:p>
            <a:pPr lvl="1"/>
            <a:r>
              <a:rPr lang="en-US" dirty="0"/>
              <a:t>Given tones of detailed data from ‘civilian’ sources, that’s probably what the models will learn.</a:t>
            </a:r>
          </a:p>
          <a:p>
            <a:r>
              <a:rPr lang="en-US" dirty="0"/>
              <a:t>Any false positives here are very bad, but I’d bet that most aren’t tracked as such. </a:t>
            </a:r>
          </a:p>
          <a:p>
            <a:pPr lvl="1"/>
            <a:r>
              <a:rPr lang="en-US" dirty="0"/>
              <a:t>If you ‘validate’ a bombing by confirming a prediction was correct, you get more people like that bombed. </a:t>
            </a:r>
          </a:p>
          <a:p>
            <a:pPr lvl="1"/>
            <a:r>
              <a:rPr lang="en-US" dirty="0"/>
              <a:t>I played HS basketball with a dude who immolated a person – we had very similar patterns of activity in-season…</a:t>
            </a:r>
          </a:p>
        </p:txBody>
      </p:sp>
    </p:spTree>
    <p:extLst>
      <p:ext uri="{BB962C8B-B14F-4D97-AF65-F5344CB8AC3E}">
        <p14:creationId xmlns:p14="http://schemas.microsoft.com/office/powerpoint/2010/main" val="834401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F98CE-278F-08D0-4E89-829EA685C03F}"/>
              </a:ext>
            </a:extLst>
          </p:cNvPr>
          <p:cNvSpPr>
            <a:spLocks noGrp="1"/>
          </p:cNvSpPr>
          <p:nvPr>
            <p:ph type="title"/>
          </p:nvPr>
        </p:nvSpPr>
        <p:spPr/>
        <p:txBody>
          <a:bodyPr/>
          <a:lstStyle/>
          <a:p>
            <a:r>
              <a:rPr lang="en-US" dirty="0"/>
              <a:t>Watch out for Foucault’s Boomerang</a:t>
            </a:r>
          </a:p>
        </p:txBody>
      </p:sp>
      <p:sp>
        <p:nvSpPr>
          <p:cNvPr id="3" name="Content Placeholder 2">
            <a:extLst>
              <a:ext uri="{FF2B5EF4-FFF2-40B4-BE49-F238E27FC236}">
                <a16:creationId xmlns:a16="http://schemas.microsoft.com/office/drawing/2014/main" id="{8A4E465E-9165-0485-6B18-084E96FEC0DC}"/>
              </a:ext>
            </a:extLst>
          </p:cNvPr>
          <p:cNvSpPr>
            <a:spLocks noGrp="1"/>
          </p:cNvSpPr>
          <p:nvPr>
            <p:ph idx="1"/>
          </p:nvPr>
        </p:nvSpPr>
        <p:spPr>
          <a:xfrm>
            <a:off x="6351105" y="1853754"/>
            <a:ext cx="5764695" cy="4199727"/>
          </a:xfrm>
        </p:spPr>
        <p:txBody>
          <a:bodyPr>
            <a:normAutofit/>
          </a:bodyPr>
          <a:lstStyle/>
          <a:p>
            <a:r>
              <a:rPr lang="en-US" dirty="0"/>
              <a:t>Right now these things are being used as elements in war. </a:t>
            </a:r>
          </a:p>
          <a:p>
            <a:pPr lvl="1"/>
            <a:r>
              <a:rPr lang="en-US" dirty="0"/>
              <a:t>The other people are ‘bad’ so using better tools to kill them is good, or at least not questioned. </a:t>
            </a:r>
          </a:p>
          <a:p>
            <a:r>
              <a:rPr lang="en-US" dirty="0"/>
              <a:t>Will very likely boomerang on us, if it hasn’t already. </a:t>
            </a:r>
          </a:p>
          <a:p>
            <a:r>
              <a:rPr lang="en-US" dirty="0"/>
              <a:t>Those in charge don’t need to actively decide on anything, the AI just found a threat, and you don’t want to ignore an urgent threat…</a:t>
            </a:r>
          </a:p>
          <a:p>
            <a:r>
              <a:rPr lang="en-US" dirty="0"/>
              <a:t>Mass data collection – everyone can be filtered. </a:t>
            </a:r>
          </a:p>
        </p:txBody>
      </p:sp>
      <p:pic>
        <p:nvPicPr>
          <p:cNvPr id="1026" name="Picture 2" descr="Beatings, overcrowding and food deprivation: US deportees face distressing  human rights conditions in El Salvador's mega-prison">
            <a:extLst>
              <a:ext uri="{FF2B5EF4-FFF2-40B4-BE49-F238E27FC236}">
                <a16:creationId xmlns:a16="http://schemas.microsoft.com/office/drawing/2014/main" id="{E8139A0C-4045-8B6D-052B-FCAFBDC8F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716" y="2038563"/>
            <a:ext cx="6067389" cy="3763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5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9B755-59AB-83EA-FB94-15F9EBB832AB}"/>
              </a:ext>
            </a:extLst>
          </p:cNvPr>
          <p:cNvSpPr>
            <a:spLocks noGrp="1"/>
          </p:cNvSpPr>
          <p:nvPr>
            <p:ph type="title"/>
          </p:nvPr>
        </p:nvSpPr>
        <p:spPr/>
        <p:txBody>
          <a:bodyPr/>
          <a:lstStyle/>
          <a:p>
            <a:r>
              <a:rPr lang="en-US" dirty="0" err="1"/>
              <a:t>Technofeudalism</a:t>
            </a:r>
            <a:endParaRPr lang="en-US" dirty="0"/>
          </a:p>
        </p:txBody>
      </p:sp>
      <p:sp>
        <p:nvSpPr>
          <p:cNvPr id="3" name="Content Placeholder 2">
            <a:extLst>
              <a:ext uri="{FF2B5EF4-FFF2-40B4-BE49-F238E27FC236}">
                <a16:creationId xmlns:a16="http://schemas.microsoft.com/office/drawing/2014/main" id="{58273868-B35F-49C5-5AD1-4895F13C3781}"/>
              </a:ext>
            </a:extLst>
          </p:cNvPr>
          <p:cNvSpPr>
            <a:spLocks noGrp="1"/>
          </p:cNvSpPr>
          <p:nvPr>
            <p:ph idx="1"/>
          </p:nvPr>
        </p:nvSpPr>
        <p:spPr>
          <a:xfrm>
            <a:off x="39866" y="1853754"/>
            <a:ext cx="8744863" cy="4288629"/>
          </a:xfrm>
        </p:spPr>
        <p:txBody>
          <a:bodyPr>
            <a:normAutofit/>
          </a:bodyPr>
          <a:lstStyle/>
          <a:p>
            <a:r>
              <a:rPr lang="en-US" sz="1800" dirty="0"/>
              <a:t>There’s a fundamental view of the tech oligarchs that society – democracy, normal people, social services, basic empathy is killing humanity and the brilliant must be unchained.</a:t>
            </a:r>
          </a:p>
          <a:p>
            <a:pPr lvl="1"/>
            <a:r>
              <a:rPr lang="en-US" sz="1600" dirty="0"/>
              <a:t>Having a world directed by some narcissistic, racist, sexist, eugenicist, anti-social weirdos who think every issue is solvable by their unique and solitary brilliance will be bad. </a:t>
            </a:r>
          </a:p>
          <a:p>
            <a:r>
              <a:rPr lang="en-US" sz="1800" dirty="0"/>
              <a:t>They are “pushing humanity forward” so any stopping them from doing what they dream is ”anti-human” in their minds -  e.g. limiting AI development is worse than genocide. </a:t>
            </a:r>
          </a:p>
          <a:p>
            <a:pPr lvl="1"/>
            <a:r>
              <a:rPr lang="en-US" sz="1600" dirty="0"/>
              <a:t>Helping people is stealing resources from progress. Democracy lets ‘normal’ people constrain the natural geniuses from progressing. Cooperation is a risk to the weak. </a:t>
            </a:r>
          </a:p>
          <a:p>
            <a:pPr lvl="1"/>
            <a:r>
              <a:rPr lang="en-US" sz="1600" dirty="0"/>
              <a:t>Giving rights to everyone holds society back from letting the geniuses save us. </a:t>
            </a:r>
          </a:p>
          <a:p>
            <a:r>
              <a:rPr lang="en-US" sz="1800" dirty="0"/>
              <a:t>End goal here is feudalism – a chosen class with all authority, the rest submitting to their betters. See anything </a:t>
            </a:r>
            <a:r>
              <a:rPr lang="en-US" sz="1800" dirty="0" err="1"/>
              <a:t>Technofeudalism</a:t>
            </a:r>
            <a:r>
              <a:rPr lang="en-US" sz="1800" dirty="0"/>
              <a:t>, Curtis </a:t>
            </a:r>
            <a:r>
              <a:rPr lang="en-US" sz="1800" dirty="0" err="1"/>
              <a:t>Yarvin</a:t>
            </a:r>
            <a:r>
              <a:rPr lang="en-US" sz="1800" dirty="0"/>
              <a:t>, Peter Thiel, or Network State related. </a:t>
            </a:r>
          </a:p>
          <a:p>
            <a:endParaRPr lang="en-US" sz="1800" dirty="0"/>
          </a:p>
        </p:txBody>
      </p:sp>
      <p:pic>
        <p:nvPicPr>
          <p:cNvPr id="2050" name="Picture 2" descr="Are You Governed or Ruled? - by Matt Orsagh">
            <a:extLst>
              <a:ext uri="{FF2B5EF4-FFF2-40B4-BE49-F238E27FC236}">
                <a16:creationId xmlns:a16="http://schemas.microsoft.com/office/drawing/2014/main" id="{424BB690-0A74-F13A-CDD6-47DD0014AD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400" t="10435" r="3200" b="7378"/>
          <a:stretch/>
        </p:blipFill>
        <p:spPr bwMode="auto">
          <a:xfrm>
            <a:off x="8784729" y="2048256"/>
            <a:ext cx="3367405"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186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5EBE3-77DD-89F5-594B-A799C14C768F}"/>
              </a:ext>
            </a:extLst>
          </p:cNvPr>
          <p:cNvSpPr>
            <a:spLocks noGrp="1"/>
          </p:cNvSpPr>
          <p:nvPr>
            <p:ph type="title"/>
          </p:nvPr>
        </p:nvSpPr>
        <p:spPr/>
        <p:txBody>
          <a:bodyPr/>
          <a:lstStyle/>
          <a:p>
            <a:r>
              <a:rPr lang="en-US" dirty="0"/>
              <a:t>Review – Tuning Models</a:t>
            </a:r>
          </a:p>
        </p:txBody>
      </p:sp>
      <p:sp>
        <p:nvSpPr>
          <p:cNvPr id="3" name="Content Placeholder 2">
            <a:extLst>
              <a:ext uri="{FF2B5EF4-FFF2-40B4-BE49-F238E27FC236}">
                <a16:creationId xmlns:a16="http://schemas.microsoft.com/office/drawing/2014/main" id="{A3955D15-A813-1D1B-6FF2-0A4549FAA8EC}"/>
              </a:ext>
            </a:extLst>
          </p:cNvPr>
          <p:cNvSpPr>
            <a:spLocks noGrp="1"/>
          </p:cNvSpPr>
          <p:nvPr>
            <p:ph idx="1"/>
          </p:nvPr>
        </p:nvSpPr>
        <p:spPr>
          <a:xfrm>
            <a:off x="1799301" y="1942338"/>
            <a:ext cx="9919947" cy="4147900"/>
          </a:xfrm>
        </p:spPr>
        <p:txBody>
          <a:bodyPr>
            <a:normAutofit/>
          </a:bodyPr>
          <a:lstStyle/>
          <a:p>
            <a:r>
              <a:rPr lang="en-US" dirty="0"/>
              <a:t>We just looked at tuning our models, usually focusing on validation accuracy. </a:t>
            </a:r>
          </a:p>
          <a:p>
            <a:r>
              <a:rPr lang="en-US" dirty="0"/>
              <a:t>There are lots of variables – size, shape, architecture, hyperparameters, </a:t>
            </a:r>
            <a:r>
              <a:rPr lang="en-US" dirty="0" err="1"/>
              <a:t>etc</a:t>
            </a:r>
            <a:r>
              <a:rPr lang="en-US" dirty="0"/>
              <a:t>…</a:t>
            </a:r>
          </a:p>
          <a:p>
            <a:pPr lvl="1"/>
            <a:r>
              <a:rPr lang="en-US" dirty="0"/>
              <a:t>Neural network models are flexible – lots of models can converge on similar performance. </a:t>
            </a:r>
          </a:p>
          <a:p>
            <a:pPr lvl="1"/>
            <a:r>
              <a:rPr lang="en-US" dirty="0"/>
              <a:t>Training is normally quite slow – many trials are hard. </a:t>
            </a:r>
          </a:p>
          <a:p>
            <a:r>
              <a:rPr lang="en-US" dirty="0"/>
              <a:t>Some things to tune are (roughly in order):</a:t>
            </a:r>
          </a:p>
          <a:p>
            <a:pPr lvl="1"/>
            <a:r>
              <a:rPr lang="en-US" dirty="0"/>
              <a:t>Ensure architecture is well suited to the task (model type, for us). Image=CNN, time=RNN.</a:t>
            </a:r>
          </a:p>
          <a:p>
            <a:pPr lvl="1"/>
            <a:r>
              <a:rPr lang="en-US" dirty="0"/>
              <a:t>Make sure we have good data – clean, enough of it, processed. </a:t>
            </a:r>
          </a:p>
          <a:p>
            <a:pPr lvl="1"/>
            <a:r>
              <a:rPr lang="en-US" dirty="0"/>
              <a:t>Size – ensure model is able to solve the problem, i.e. enough capacity to overfit. </a:t>
            </a:r>
          </a:p>
          <a:p>
            <a:pPr lvl="1"/>
            <a:r>
              <a:rPr lang="en-US" dirty="0"/>
              <a:t>“Tuning” – add tuning with layers (</a:t>
            </a:r>
            <a:r>
              <a:rPr lang="en-US" dirty="0" err="1"/>
              <a:t>b.n.</a:t>
            </a:r>
            <a:r>
              <a:rPr lang="en-US" dirty="0"/>
              <a:t>, dropout), </a:t>
            </a:r>
            <a:r>
              <a:rPr lang="en-US" dirty="0" err="1"/>
              <a:t>h.p.</a:t>
            </a:r>
            <a:r>
              <a:rPr lang="en-US" dirty="0"/>
              <a:t> (regularization), batches, </a:t>
            </a:r>
            <a:r>
              <a:rPr lang="en-US" dirty="0" err="1"/>
              <a:t>etc</a:t>
            </a:r>
            <a:r>
              <a:rPr lang="en-US" dirty="0"/>
              <a:t>…</a:t>
            </a:r>
          </a:p>
        </p:txBody>
      </p:sp>
      <p:pic>
        <p:nvPicPr>
          <p:cNvPr id="4" name="Picture 3" descr="CNN model structure">
            <a:extLst>
              <a:ext uri="{FF2B5EF4-FFF2-40B4-BE49-F238E27FC236}">
                <a16:creationId xmlns:a16="http://schemas.microsoft.com/office/drawing/2014/main" id="{F0E8B868-F13F-2EB8-C917-91F9FA6F42F3}"/>
              </a:ext>
            </a:extLst>
          </p:cNvPr>
          <p:cNvPicPr>
            <a:picLocks noChangeAspect="1"/>
          </p:cNvPicPr>
          <p:nvPr/>
        </p:nvPicPr>
        <p:blipFill>
          <a:blip r:embed="rId2"/>
          <a:srcRect l="31541" r="28636"/>
          <a:stretch>
            <a:fillRect/>
          </a:stretch>
        </p:blipFill>
        <p:spPr>
          <a:xfrm>
            <a:off x="132735" y="1942338"/>
            <a:ext cx="1666567" cy="4147900"/>
          </a:xfrm>
          <a:prstGeom prst="rect">
            <a:avLst/>
          </a:prstGeom>
        </p:spPr>
      </p:pic>
    </p:spTree>
    <p:extLst>
      <p:ext uri="{BB962C8B-B14F-4D97-AF65-F5344CB8AC3E}">
        <p14:creationId xmlns:p14="http://schemas.microsoft.com/office/powerpoint/2010/main" val="133143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3B348-51D1-4782-FEAE-7F46A0168F8D}"/>
              </a:ext>
            </a:extLst>
          </p:cNvPr>
          <p:cNvSpPr>
            <a:spLocks noGrp="1"/>
          </p:cNvSpPr>
          <p:nvPr>
            <p:ph type="title"/>
          </p:nvPr>
        </p:nvSpPr>
        <p:spPr/>
        <p:txBody>
          <a:bodyPr/>
          <a:lstStyle/>
          <a:p>
            <a:r>
              <a:rPr lang="en-US" dirty="0"/>
              <a:t>Tuning Tools</a:t>
            </a:r>
          </a:p>
        </p:txBody>
      </p:sp>
      <p:sp>
        <p:nvSpPr>
          <p:cNvPr id="3" name="Content Placeholder 2">
            <a:extLst>
              <a:ext uri="{FF2B5EF4-FFF2-40B4-BE49-F238E27FC236}">
                <a16:creationId xmlns:a16="http://schemas.microsoft.com/office/drawing/2014/main" id="{8B3CE278-0432-0DD5-1240-8AC06BEF8A2F}"/>
              </a:ext>
            </a:extLst>
          </p:cNvPr>
          <p:cNvSpPr>
            <a:spLocks noGrp="1"/>
          </p:cNvSpPr>
          <p:nvPr>
            <p:ph idx="1"/>
          </p:nvPr>
        </p:nvSpPr>
        <p:spPr>
          <a:xfrm>
            <a:off x="74644" y="1909665"/>
            <a:ext cx="7887479" cy="4143815"/>
          </a:xfrm>
        </p:spPr>
        <p:txBody>
          <a:bodyPr/>
          <a:lstStyle/>
          <a:p>
            <a:r>
              <a:rPr lang="en-US" dirty="0"/>
              <a:t>Some tools can help make tuning a bit easier. </a:t>
            </a:r>
          </a:p>
          <a:p>
            <a:pPr lvl="1"/>
            <a:r>
              <a:rPr lang="en-US" dirty="0"/>
              <a:t>Early stopping – stop training before we overfit and save that model. </a:t>
            </a:r>
          </a:p>
          <a:p>
            <a:pPr lvl="1"/>
            <a:r>
              <a:rPr lang="en-US" dirty="0"/>
              <a:t>Loss/accuracy plots – visualize performance and show several ‘hints’. </a:t>
            </a:r>
          </a:p>
          <a:p>
            <a:pPr lvl="1"/>
            <a:r>
              <a:rPr lang="en-US" dirty="0" err="1"/>
              <a:t>Tensorboard</a:t>
            </a:r>
            <a:r>
              <a:rPr lang="en-US" dirty="0"/>
              <a:t> – document training performance in an interactive webpage. </a:t>
            </a:r>
          </a:p>
          <a:p>
            <a:pPr lvl="1"/>
            <a:r>
              <a:rPr lang="en-US" dirty="0" err="1"/>
              <a:t>RayTune</a:t>
            </a:r>
            <a:r>
              <a:rPr lang="en-US" dirty="0"/>
              <a:t> – setup </a:t>
            </a:r>
            <a:r>
              <a:rPr lang="en-US" dirty="0" err="1"/>
              <a:t>gridsearch</a:t>
            </a:r>
            <a:r>
              <a:rPr lang="en-US" dirty="0"/>
              <a:t> like loops to evaluate the best model. </a:t>
            </a:r>
          </a:p>
          <a:p>
            <a:r>
              <a:rPr lang="en-US" dirty="0"/>
              <a:t>Concept behind tuning is the same as sklearn, reality is more complex. </a:t>
            </a:r>
          </a:p>
          <a:p>
            <a:pPr lvl="1"/>
            <a:r>
              <a:rPr lang="en-US" dirty="0"/>
              <a:t>Large numbers of trials like </a:t>
            </a:r>
            <a:r>
              <a:rPr lang="en-US" dirty="0" err="1"/>
              <a:t>gridsearchcv</a:t>
            </a:r>
            <a:r>
              <a:rPr lang="en-US" dirty="0"/>
              <a:t> are usually impractical/costly. </a:t>
            </a:r>
          </a:p>
          <a:p>
            <a:pPr lvl="1"/>
            <a:r>
              <a:rPr lang="en-US" dirty="0"/>
              <a:t>Start with an example that works well, and adjust as needed. </a:t>
            </a:r>
          </a:p>
          <a:p>
            <a:pPr lvl="2"/>
            <a:r>
              <a:rPr lang="en-US" dirty="0"/>
              <a:t>Eyeballing a good fitting model from scratch is hard. </a:t>
            </a:r>
          </a:p>
          <a:p>
            <a:r>
              <a:rPr lang="en-US" dirty="0"/>
              <a:t>Performance is often not super predictable. </a:t>
            </a:r>
          </a:p>
        </p:txBody>
      </p:sp>
      <p:pic>
        <p:nvPicPr>
          <p:cNvPr id="6" name="Picture 5" descr="Proposal] Add integration with Tensorboard · Issue #1060 · optuna/optuna">
            <a:extLst>
              <a:ext uri="{FF2B5EF4-FFF2-40B4-BE49-F238E27FC236}">
                <a16:creationId xmlns:a16="http://schemas.microsoft.com/office/drawing/2014/main" id="{277C8084-15E8-4571-47D6-79E07C586552}"/>
              </a:ext>
            </a:extLst>
          </p:cNvPr>
          <p:cNvPicPr>
            <a:picLocks noChangeAspect="1"/>
          </p:cNvPicPr>
          <p:nvPr/>
        </p:nvPicPr>
        <p:blipFill>
          <a:blip r:embed="rId2"/>
          <a:srcRect l="31833" t="22115" r="14706"/>
          <a:stretch>
            <a:fillRect/>
          </a:stretch>
        </p:blipFill>
        <p:spPr>
          <a:xfrm>
            <a:off x="7962122" y="2183364"/>
            <a:ext cx="4155234" cy="3079533"/>
          </a:xfrm>
          <a:prstGeom prst="rect">
            <a:avLst/>
          </a:prstGeom>
        </p:spPr>
      </p:pic>
      <p:pic>
        <p:nvPicPr>
          <p:cNvPr id="7" name="Picture 6" descr="Tensorboard HParams Metric creates unwanted runs - PyTorch Forums">
            <a:extLst>
              <a:ext uri="{FF2B5EF4-FFF2-40B4-BE49-F238E27FC236}">
                <a16:creationId xmlns:a16="http://schemas.microsoft.com/office/drawing/2014/main" id="{64A2B5B0-680D-2AD3-CF05-FBCA0F033ABA}"/>
              </a:ext>
            </a:extLst>
          </p:cNvPr>
          <p:cNvPicPr>
            <a:picLocks noChangeAspect="1"/>
          </p:cNvPicPr>
          <p:nvPr/>
        </p:nvPicPr>
        <p:blipFill>
          <a:blip r:embed="rId3"/>
          <a:stretch>
            <a:fillRect/>
          </a:stretch>
        </p:blipFill>
        <p:spPr>
          <a:xfrm>
            <a:off x="9202994" y="233615"/>
            <a:ext cx="2914362" cy="1949749"/>
          </a:xfrm>
          <a:prstGeom prst="rect">
            <a:avLst/>
          </a:prstGeom>
        </p:spPr>
      </p:pic>
    </p:spTree>
    <p:extLst>
      <p:ext uri="{BB962C8B-B14F-4D97-AF65-F5344CB8AC3E}">
        <p14:creationId xmlns:p14="http://schemas.microsoft.com/office/powerpoint/2010/main" val="1748170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06020-6B11-AA42-9B48-B53555ED273C}"/>
              </a:ext>
            </a:extLst>
          </p:cNvPr>
          <p:cNvSpPr>
            <a:spLocks noGrp="1"/>
          </p:cNvSpPr>
          <p:nvPr>
            <p:ph type="ctrTitle"/>
          </p:nvPr>
        </p:nvSpPr>
        <p:spPr/>
        <p:txBody>
          <a:bodyPr/>
          <a:lstStyle/>
          <a:p>
            <a:r>
              <a:rPr lang="en-US" dirty="0"/>
              <a:t>Transfer Learning</a:t>
            </a:r>
          </a:p>
        </p:txBody>
      </p:sp>
      <p:sp>
        <p:nvSpPr>
          <p:cNvPr id="3" name="Subtitle 2">
            <a:extLst>
              <a:ext uri="{FF2B5EF4-FFF2-40B4-BE49-F238E27FC236}">
                <a16:creationId xmlns:a16="http://schemas.microsoft.com/office/drawing/2014/main" id="{E841CF07-39D4-9A41-ADA3-2E1D1D1B7E0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79809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CD616-102E-994B-9108-B2A89BC1316A}"/>
              </a:ext>
            </a:extLst>
          </p:cNvPr>
          <p:cNvSpPr>
            <a:spLocks noGrp="1"/>
          </p:cNvSpPr>
          <p:nvPr>
            <p:ph type="title"/>
          </p:nvPr>
        </p:nvSpPr>
        <p:spPr>
          <a:xfrm>
            <a:off x="1451579" y="804519"/>
            <a:ext cx="9603275" cy="1049235"/>
          </a:xfrm>
        </p:spPr>
        <p:txBody>
          <a:bodyPr>
            <a:normAutofit/>
          </a:bodyPr>
          <a:lstStyle/>
          <a:p>
            <a:r>
              <a:rPr lang="en-US" dirty="0"/>
              <a:t>Model Training</a:t>
            </a:r>
          </a:p>
        </p:txBody>
      </p:sp>
      <p:sp>
        <p:nvSpPr>
          <p:cNvPr id="3" name="Content Placeholder 2">
            <a:extLst>
              <a:ext uri="{FF2B5EF4-FFF2-40B4-BE49-F238E27FC236}">
                <a16:creationId xmlns:a16="http://schemas.microsoft.com/office/drawing/2014/main" id="{5A049AE1-5626-1F4C-8112-BABE1B65E2EC}"/>
              </a:ext>
            </a:extLst>
          </p:cNvPr>
          <p:cNvSpPr>
            <a:spLocks noGrp="1"/>
          </p:cNvSpPr>
          <p:nvPr>
            <p:ph idx="1"/>
          </p:nvPr>
        </p:nvSpPr>
        <p:spPr>
          <a:xfrm>
            <a:off x="1451579" y="2015734"/>
            <a:ext cx="6036616" cy="4037747"/>
          </a:xfrm>
        </p:spPr>
        <p:txBody>
          <a:bodyPr>
            <a:normAutofit/>
          </a:bodyPr>
          <a:lstStyle/>
          <a:p>
            <a:pPr>
              <a:lnSpc>
                <a:spcPct val="110000"/>
              </a:lnSpc>
            </a:pPr>
            <a:r>
              <a:rPr lang="en-US" dirty="0"/>
              <a:t>As we’ve seen, training models can be time consuming. </a:t>
            </a:r>
          </a:p>
          <a:p>
            <a:pPr>
              <a:lnSpc>
                <a:spcPct val="110000"/>
              </a:lnSpc>
            </a:pPr>
            <a:r>
              <a:rPr lang="en-US" dirty="0"/>
              <a:t>For something like image recognition or language processing the dataset of stuff is immense. </a:t>
            </a:r>
          </a:p>
          <a:p>
            <a:pPr>
              <a:lnSpc>
                <a:spcPct val="110000"/>
              </a:lnSpc>
            </a:pPr>
            <a:r>
              <a:rPr lang="en-US" dirty="0"/>
              <a:t>Training state of the art models isn’t possible without serious resources. </a:t>
            </a:r>
          </a:p>
          <a:p>
            <a:pPr>
              <a:lnSpc>
                <a:spcPct val="110000"/>
              </a:lnSpc>
            </a:pPr>
            <a:r>
              <a:rPr lang="en-US" dirty="0"/>
              <a:t>Most people, including us, don’t have that. </a:t>
            </a:r>
          </a:p>
          <a:p>
            <a:pPr>
              <a:lnSpc>
                <a:spcPct val="110000"/>
              </a:lnSpc>
            </a:pPr>
            <a:r>
              <a:rPr lang="en-US" dirty="0"/>
              <a:t>What to do?</a:t>
            </a:r>
          </a:p>
        </p:txBody>
      </p:sp>
      <p:pic>
        <p:nvPicPr>
          <p:cNvPr id="9218" name="Picture 2" descr="android robot thinking Stock Photo | Adobe Stock">
            <a:extLst>
              <a:ext uri="{FF2B5EF4-FFF2-40B4-BE49-F238E27FC236}">
                <a16:creationId xmlns:a16="http://schemas.microsoft.com/office/drawing/2014/main" id="{B984481B-DA2C-6A49-8EEF-4950A61653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07"/>
          <a:stretch/>
        </p:blipFill>
        <p:spPr bwMode="auto">
          <a:xfrm>
            <a:off x="7648832" y="2288471"/>
            <a:ext cx="4362856" cy="3049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0257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88C1C-8AF9-8646-AC13-6FC7D024ABE9}"/>
              </a:ext>
            </a:extLst>
          </p:cNvPr>
          <p:cNvSpPr>
            <a:spLocks noGrp="1"/>
          </p:cNvSpPr>
          <p:nvPr>
            <p:ph type="title"/>
          </p:nvPr>
        </p:nvSpPr>
        <p:spPr/>
        <p:txBody>
          <a:bodyPr/>
          <a:lstStyle/>
          <a:p>
            <a:r>
              <a:rPr lang="en-US" dirty="0"/>
              <a:t>Big Processors</a:t>
            </a:r>
          </a:p>
        </p:txBody>
      </p:sp>
      <p:sp>
        <p:nvSpPr>
          <p:cNvPr id="3" name="Content Placeholder 2">
            <a:extLst>
              <a:ext uri="{FF2B5EF4-FFF2-40B4-BE49-F238E27FC236}">
                <a16:creationId xmlns:a16="http://schemas.microsoft.com/office/drawing/2014/main" id="{51D7F542-64F9-1247-9976-2A71C8E4BCE0}"/>
              </a:ext>
            </a:extLst>
          </p:cNvPr>
          <p:cNvSpPr>
            <a:spLocks noGrp="1"/>
          </p:cNvSpPr>
          <p:nvPr>
            <p:ph idx="1"/>
          </p:nvPr>
        </p:nvSpPr>
        <p:spPr/>
        <p:txBody>
          <a:bodyPr/>
          <a:lstStyle/>
          <a:p>
            <a:endParaRPr lang="en-US"/>
          </a:p>
        </p:txBody>
      </p:sp>
      <p:pic>
        <p:nvPicPr>
          <p:cNvPr id="7170" name="Picture 2" descr="Configuring a Windows Running Deep Learning Rig | NaadiSpeaks">
            <a:extLst>
              <a:ext uri="{FF2B5EF4-FFF2-40B4-BE49-F238E27FC236}">
                <a16:creationId xmlns:a16="http://schemas.microsoft.com/office/drawing/2014/main" id="{5D5547C9-F56D-0E49-850F-30BC149A6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1661" y="1611925"/>
            <a:ext cx="9323110" cy="524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579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37159-2982-8594-A2A8-7D14DA402E6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2B33AC-4DCC-B977-9926-DA182D39268A}"/>
              </a:ext>
            </a:extLst>
          </p:cNvPr>
          <p:cNvSpPr>
            <a:spLocks noGrp="1"/>
          </p:cNvSpPr>
          <p:nvPr>
            <p:ph idx="1"/>
          </p:nvPr>
        </p:nvSpPr>
        <p:spPr/>
        <p:txBody>
          <a:bodyPr/>
          <a:lstStyle/>
          <a:p>
            <a:endParaRPr lang="en-US"/>
          </a:p>
        </p:txBody>
      </p:sp>
      <p:pic>
        <p:nvPicPr>
          <p:cNvPr id="4" name="Picture 3" descr="CPU vs GPU vs TPU: The Ultimate Guide — Allied Venture Partners">
            <a:extLst>
              <a:ext uri="{FF2B5EF4-FFF2-40B4-BE49-F238E27FC236}">
                <a16:creationId xmlns:a16="http://schemas.microsoft.com/office/drawing/2014/main" id="{66A09622-209E-B69C-C6E6-16A4BAC1EBB9}"/>
              </a:ext>
            </a:extLst>
          </p:cNvPr>
          <p:cNvPicPr>
            <a:picLocks noChangeAspect="1"/>
          </p:cNvPicPr>
          <p:nvPr/>
        </p:nvPicPr>
        <p:blipFill>
          <a:blip r:embed="rId2"/>
          <a:stretch>
            <a:fillRect/>
          </a:stretch>
        </p:blipFill>
        <p:spPr>
          <a:xfrm>
            <a:off x="-49161" y="0"/>
            <a:ext cx="12241161" cy="6830567"/>
          </a:xfrm>
          <a:prstGeom prst="rect">
            <a:avLst/>
          </a:prstGeom>
        </p:spPr>
      </p:pic>
    </p:spTree>
    <p:extLst>
      <p:ext uri="{BB962C8B-B14F-4D97-AF65-F5344CB8AC3E}">
        <p14:creationId xmlns:p14="http://schemas.microsoft.com/office/powerpoint/2010/main" val="4161624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43C67-CC6D-9A4B-96A1-B88E8CC9B90A}"/>
              </a:ext>
            </a:extLst>
          </p:cNvPr>
          <p:cNvSpPr>
            <a:spLocks noGrp="1"/>
          </p:cNvSpPr>
          <p:nvPr>
            <p:ph type="title"/>
          </p:nvPr>
        </p:nvSpPr>
        <p:spPr/>
        <p:txBody>
          <a:bodyPr/>
          <a:lstStyle/>
          <a:p>
            <a:r>
              <a:rPr lang="en-US" dirty="0"/>
              <a:t>Big Data - </a:t>
            </a:r>
            <a:r>
              <a:rPr lang="en-US" dirty="0" err="1"/>
              <a:t>Imagenet</a:t>
            </a:r>
            <a:endParaRPr lang="en-US" dirty="0"/>
          </a:p>
        </p:txBody>
      </p:sp>
      <p:sp>
        <p:nvSpPr>
          <p:cNvPr id="3" name="Content Placeholder 2">
            <a:extLst>
              <a:ext uri="{FF2B5EF4-FFF2-40B4-BE49-F238E27FC236}">
                <a16:creationId xmlns:a16="http://schemas.microsoft.com/office/drawing/2014/main" id="{E6C04FEC-8F3F-1641-BAEC-E1A5BC7C6B11}"/>
              </a:ext>
            </a:extLst>
          </p:cNvPr>
          <p:cNvSpPr>
            <a:spLocks noGrp="1"/>
          </p:cNvSpPr>
          <p:nvPr>
            <p:ph idx="1"/>
          </p:nvPr>
        </p:nvSpPr>
        <p:spPr/>
        <p:txBody>
          <a:bodyPr/>
          <a:lstStyle/>
          <a:p>
            <a:endParaRPr lang="en-US"/>
          </a:p>
        </p:txBody>
      </p:sp>
      <p:pic>
        <p:nvPicPr>
          <p:cNvPr id="6146" name="Picture 2" descr="ImageNet">
            <a:extLst>
              <a:ext uri="{FF2B5EF4-FFF2-40B4-BE49-F238E27FC236}">
                <a16:creationId xmlns:a16="http://schemas.microsoft.com/office/drawing/2014/main" id="{FE11F77E-98AE-D546-9B83-7BB22BE8DC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500" y="1853754"/>
            <a:ext cx="10795000" cy="486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041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618A4-D2E0-0144-BD6A-6806804CEC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9D78DA-CA57-EF45-B97A-DE3EB36E1C5E}"/>
              </a:ext>
            </a:extLst>
          </p:cNvPr>
          <p:cNvSpPr>
            <a:spLocks noGrp="1"/>
          </p:cNvSpPr>
          <p:nvPr>
            <p:ph idx="1"/>
          </p:nvPr>
        </p:nvSpPr>
        <p:spPr/>
        <p:txBody>
          <a:bodyPr/>
          <a:lstStyle/>
          <a:p>
            <a:endParaRPr lang="en-US"/>
          </a:p>
        </p:txBody>
      </p:sp>
      <p:pic>
        <p:nvPicPr>
          <p:cNvPr id="8194" name="Picture 2" descr="How computers got shockingly good at recognizing images | Ars Technica">
            <a:extLst>
              <a:ext uri="{FF2B5EF4-FFF2-40B4-BE49-F238E27FC236}">
                <a16:creationId xmlns:a16="http://schemas.microsoft.com/office/drawing/2014/main" id="{6C48EB59-FC33-C144-924B-DF7A9860FB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288" y="0"/>
            <a:ext cx="116554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9393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25431-8D62-4D74-B1A6-3BD33EF9EA6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C1CE5CD-0E90-242A-E3F5-3435B0B3A713}"/>
              </a:ext>
            </a:extLst>
          </p:cNvPr>
          <p:cNvSpPr>
            <a:spLocks noGrp="1"/>
          </p:cNvSpPr>
          <p:nvPr>
            <p:ph idx="1"/>
          </p:nvPr>
        </p:nvSpPr>
        <p:spPr/>
        <p:txBody>
          <a:bodyPr/>
          <a:lstStyle/>
          <a:p>
            <a:endParaRPr lang="en-US" dirty="0"/>
          </a:p>
        </p:txBody>
      </p:sp>
      <p:pic>
        <p:nvPicPr>
          <p:cNvPr id="6" name="Picture 5" descr="Top-1 accuracy vs computational complexity for various deep neural... |  Download Scientific Diagram">
            <a:extLst>
              <a:ext uri="{FF2B5EF4-FFF2-40B4-BE49-F238E27FC236}">
                <a16:creationId xmlns:a16="http://schemas.microsoft.com/office/drawing/2014/main" id="{C67E60C2-0F17-06CF-066C-F9C3B7DC5BBF}"/>
              </a:ext>
            </a:extLst>
          </p:cNvPr>
          <p:cNvPicPr>
            <a:picLocks noChangeAspect="1"/>
          </p:cNvPicPr>
          <p:nvPr/>
        </p:nvPicPr>
        <p:blipFill>
          <a:blip r:embed="rId2"/>
          <a:stretch>
            <a:fillRect/>
          </a:stretch>
        </p:blipFill>
        <p:spPr>
          <a:xfrm>
            <a:off x="1767840" y="-3261"/>
            <a:ext cx="8619744" cy="6834950"/>
          </a:xfrm>
          <a:prstGeom prst="rect">
            <a:avLst/>
          </a:prstGeom>
        </p:spPr>
      </p:pic>
      <p:pic>
        <p:nvPicPr>
          <p:cNvPr id="7" name="Picture 6" descr="Top-1 accuracy vs computational complexity for various deep neural... |  Download Scientific Diagram">
            <a:extLst>
              <a:ext uri="{FF2B5EF4-FFF2-40B4-BE49-F238E27FC236}">
                <a16:creationId xmlns:a16="http://schemas.microsoft.com/office/drawing/2014/main" id="{3A19C163-8436-3946-9FD0-7EE5ECD05B21}"/>
              </a:ext>
            </a:extLst>
          </p:cNvPr>
          <p:cNvPicPr>
            <a:picLocks noChangeAspect="1"/>
          </p:cNvPicPr>
          <p:nvPr/>
        </p:nvPicPr>
        <p:blipFill>
          <a:blip r:embed="rId3"/>
          <a:stretch>
            <a:fillRect/>
          </a:stretch>
        </p:blipFill>
        <p:spPr>
          <a:xfrm>
            <a:off x="3553876" y="1444019"/>
            <a:ext cx="1600200" cy="1270000"/>
          </a:xfrm>
          <a:prstGeom prst="rect">
            <a:avLst/>
          </a:prstGeom>
        </p:spPr>
      </p:pic>
    </p:spTree>
    <p:extLst>
      <p:ext uri="{BB962C8B-B14F-4D97-AF65-F5344CB8AC3E}">
        <p14:creationId xmlns:p14="http://schemas.microsoft.com/office/powerpoint/2010/main" val="1048818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711FA-B1D6-6F49-9F80-5DDCC6AF4266}"/>
              </a:ext>
            </a:extLst>
          </p:cNvPr>
          <p:cNvSpPr>
            <a:spLocks noGrp="1"/>
          </p:cNvSpPr>
          <p:nvPr>
            <p:ph type="title"/>
          </p:nvPr>
        </p:nvSpPr>
        <p:spPr>
          <a:xfrm>
            <a:off x="1451579" y="804519"/>
            <a:ext cx="9603275" cy="1049235"/>
          </a:xfrm>
        </p:spPr>
        <p:txBody>
          <a:bodyPr>
            <a:normAutofit/>
          </a:bodyPr>
          <a:lstStyle/>
          <a:p>
            <a:r>
              <a:rPr lang="en-US" dirty="0"/>
              <a:t>Transfer the Learning</a:t>
            </a:r>
          </a:p>
        </p:txBody>
      </p:sp>
      <p:sp>
        <p:nvSpPr>
          <p:cNvPr id="3" name="Content Placeholder 2">
            <a:extLst>
              <a:ext uri="{FF2B5EF4-FFF2-40B4-BE49-F238E27FC236}">
                <a16:creationId xmlns:a16="http://schemas.microsoft.com/office/drawing/2014/main" id="{7819B450-8516-9544-BE44-CAE618A27453}"/>
              </a:ext>
            </a:extLst>
          </p:cNvPr>
          <p:cNvSpPr>
            <a:spLocks noGrp="1"/>
          </p:cNvSpPr>
          <p:nvPr>
            <p:ph idx="1"/>
          </p:nvPr>
        </p:nvSpPr>
        <p:spPr>
          <a:xfrm>
            <a:off x="605481" y="2015734"/>
            <a:ext cx="5297844" cy="4126683"/>
          </a:xfrm>
        </p:spPr>
        <p:txBody>
          <a:bodyPr>
            <a:normAutofit/>
          </a:bodyPr>
          <a:lstStyle/>
          <a:p>
            <a:r>
              <a:rPr lang="en-US" dirty="0"/>
              <a:t>Enter transfer learning!</a:t>
            </a:r>
          </a:p>
          <a:p>
            <a:r>
              <a:rPr lang="en-US" dirty="0"/>
              <a:t>We can use the training of other models and borrow those models for our applications. </a:t>
            </a:r>
          </a:p>
          <a:p>
            <a:r>
              <a:rPr lang="en-US" dirty="0"/>
              <a:t>Idea – many tasks are very similar, if a model is good at one thing, it will probably be good at something similar. </a:t>
            </a:r>
          </a:p>
          <a:p>
            <a:r>
              <a:rPr lang="en-US" dirty="0"/>
              <a:t>In the real world – I could ski before I could waterski. The idea of carving on an edge, balancing, weight transfer all help learning to water ski. </a:t>
            </a:r>
          </a:p>
        </p:txBody>
      </p:sp>
      <p:pic>
        <p:nvPicPr>
          <p:cNvPr id="1026" name="Picture 2" descr="Transfer learning idea">
            <a:extLst>
              <a:ext uri="{FF2B5EF4-FFF2-40B4-BE49-F238E27FC236}">
                <a16:creationId xmlns:a16="http://schemas.microsoft.com/office/drawing/2014/main" id="{CEDA91A0-0625-7E44-BDAE-B87185E1332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03325" y="2691805"/>
            <a:ext cx="6134421" cy="3450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1545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B86AC-F607-C746-8DF8-F51F5347EA69}"/>
              </a:ext>
            </a:extLst>
          </p:cNvPr>
          <p:cNvSpPr>
            <a:spLocks noGrp="1"/>
          </p:cNvSpPr>
          <p:nvPr>
            <p:ph type="title"/>
          </p:nvPr>
        </p:nvSpPr>
        <p:spPr/>
        <p:txBody>
          <a:bodyPr/>
          <a:lstStyle/>
          <a:p>
            <a:r>
              <a:rPr lang="en-US" dirty="0"/>
              <a:t>Pretrained Image Models</a:t>
            </a:r>
          </a:p>
        </p:txBody>
      </p:sp>
      <p:sp>
        <p:nvSpPr>
          <p:cNvPr id="3" name="Content Placeholder 2">
            <a:extLst>
              <a:ext uri="{FF2B5EF4-FFF2-40B4-BE49-F238E27FC236}">
                <a16:creationId xmlns:a16="http://schemas.microsoft.com/office/drawing/2014/main" id="{E40B2804-DA5D-4441-8AB8-A5CC57D0B834}"/>
              </a:ext>
            </a:extLst>
          </p:cNvPr>
          <p:cNvSpPr>
            <a:spLocks noGrp="1"/>
          </p:cNvSpPr>
          <p:nvPr>
            <p:ph idx="1"/>
          </p:nvPr>
        </p:nvSpPr>
        <p:spPr>
          <a:xfrm>
            <a:off x="1451579" y="2015732"/>
            <a:ext cx="9603275" cy="4037749"/>
          </a:xfrm>
        </p:spPr>
        <p:txBody>
          <a:bodyPr/>
          <a:lstStyle/>
          <a:p>
            <a:r>
              <a:rPr lang="en-US" dirty="0"/>
              <a:t>Image recognition models are trained on large datasets like ImageNet, which has over 1000 classes. </a:t>
            </a:r>
          </a:p>
          <a:p>
            <a:pPr lvl="1"/>
            <a:r>
              <a:rPr lang="en-US" dirty="0"/>
              <a:t>Massive dataset + large model + fast processor = accurate model. </a:t>
            </a:r>
          </a:p>
          <a:p>
            <a:r>
              <a:rPr lang="en-US" dirty="0"/>
              <a:t>“Seeing” objects is what the model is trained to do. </a:t>
            </a:r>
          </a:p>
          <a:p>
            <a:r>
              <a:rPr lang="en-US" dirty="0"/>
              <a:t>We can repurpose it to use those skills for other types of objects. </a:t>
            </a:r>
          </a:p>
          <a:p>
            <a:r>
              <a:rPr lang="en-US" dirty="0" err="1"/>
              <a:t>Pytorch</a:t>
            </a:r>
            <a:r>
              <a:rPr lang="en-US" dirty="0"/>
              <a:t> and other packages have many pretrained models that we can download and use. </a:t>
            </a:r>
          </a:p>
          <a:p>
            <a:r>
              <a:rPr lang="en-US" dirty="0"/>
              <a:t>The pretrained model’s abilities to extract features are well developed through training. </a:t>
            </a:r>
          </a:p>
          <a:p>
            <a:r>
              <a:rPr lang="en-US" dirty="0"/>
              <a:t>We aim to combine that feature detection with our specific challenge. </a:t>
            </a:r>
          </a:p>
        </p:txBody>
      </p:sp>
    </p:spTree>
    <p:extLst>
      <p:ext uri="{BB962C8B-B14F-4D97-AF65-F5344CB8AC3E}">
        <p14:creationId xmlns:p14="http://schemas.microsoft.com/office/powerpoint/2010/main" val="1581177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F3ABA-1AD9-5C94-3DFC-364210DC8C56}"/>
              </a:ext>
            </a:extLst>
          </p:cNvPr>
          <p:cNvSpPr>
            <a:spLocks noGrp="1"/>
          </p:cNvSpPr>
          <p:nvPr>
            <p:ph type="title"/>
          </p:nvPr>
        </p:nvSpPr>
        <p:spPr/>
        <p:txBody>
          <a:bodyPr/>
          <a:lstStyle/>
          <a:p>
            <a:r>
              <a:rPr lang="en-US" dirty="0"/>
              <a:t>Transfer </a:t>
            </a:r>
            <a:r>
              <a:rPr lang="en-US" dirty="0" err="1"/>
              <a:t>lEarning</a:t>
            </a:r>
            <a:endParaRPr lang="en-US" dirty="0"/>
          </a:p>
        </p:txBody>
      </p:sp>
      <p:sp>
        <p:nvSpPr>
          <p:cNvPr id="3" name="Content Placeholder 2">
            <a:extLst>
              <a:ext uri="{FF2B5EF4-FFF2-40B4-BE49-F238E27FC236}">
                <a16:creationId xmlns:a16="http://schemas.microsoft.com/office/drawing/2014/main" id="{49260D67-76AB-F5A3-6976-D864841111F9}"/>
              </a:ext>
            </a:extLst>
          </p:cNvPr>
          <p:cNvSpPr>
            <a:spLocks noGrp="1"/>
          </p:cNvSpPr>
          <p:nvPr>
            <p:ph idx="1"/>
          </p:nvPr>
        </p:nvSpPr>
        <p:spPr>
          <a:xfrm>
            <a:off x="8636000" y="1893378"/>
            <a:ext cx="3556000" cy="4160103"/>
          </a:xfrm>
        </p:spPr>
        <p:txBody>
          <a:bodyPr/>
          <a:lstStyle/>
          <a:p>
            <a:r>
              <a:rPr lang="en-US" dirty="0"/>
              <a:t>We use the smart model’s convolutional layers. </a:t>
            </a:r>
          </a:p>
          <a:p>
            <a:pPr lvl="1"/>
            <a:r>
              <a:rPr lang="en-US" dirty="0"/>
              <a:t>These generate features. </a:t>
            </a:r>
          </a:p>
          <a:p>
            <a:r>
              <a:rPr lang="en-US" dirty="0"/>
              <a:t>We attach that to a new classifier layer(s). </a:t>
            </a:r>
          </a:p>
          <a:p>
            <a:pPr lvl="1"/>
            <a:r>
              <a:rPr lang="en-US" dirty="0"/>
              <a:t>Use what the smart model sees to predict our case instead. </a:t>
            </a:r>
          </a:p>
          <a:p>
            <a:r>
              <a:rPr lang="en-US" dirty="0"/>
              <a:t>The code mechanics are basically this simple. </a:t>
            </a:r>
          </a:p>
        </p:txBody>
      </p:sp>
      <p:pic>
        <p:nvPicPr>
          <p:cNvPr id="4" name="Picture 3" descr="What is Transfer Learning? - GeeksforGeeks">
            <a:extLst>
              <a:ext uri="{FF2B5EF4-FFF2-40B4-BE49-F238E27FC236}">
                <a16:creationId xmlns:a16="http://schemas.microsoft.com/office/drawing/2014/main" id="{750E60B7-78A7-5AB4-48BA-5752725E3C15}"/>
              </a:ext>
            </a:extLst>
          </p:cNvPr>
          <p:cNvPicPr>
            <a:picLocks noChangeAspect="1"/>
          </p:cNvPicPr>
          <p:nvPr/>
        </p:nvPicPr>
        <p:blipFill>
          <a:blip r:embed="rId2"/>
          <a:stretch>
            <a:fillRect/>
          </a:stretch>
        </p:blipFill>
        <p:spPr>
          <a:xfrm>
            <a:off x="0" y="1893378"/>
            <a:ext cx="8636000" cy="4318000"/>
          </a:xfrm>
          <a:prstGeom prst="rect">
            <a:avLst/>
          </a:prstGeom>
        </p:spPr>
      </p:pic>
    </p:spTree>
    <p:extLst>
      <p:ext uri="{BB962C8B-B14F-4D97-AF65-F5344CB8AC3E}">
        <p14:creationId xmlns:p14="http://schemas.microsoft.com/office/powerpoint/2010/main" val="2862911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D01E7-70FF-F843-9E7B-B59B652A3F70}"/>
              </a:ext>
            </a:extLst>
          </p:cNvPr>
          <p:cNvSpPr>
            <a:spLocks noGrp="1"/>
          </p:cNvSpPr>
          <p:nvPr>
            <p:ph type="title"/>
          </p:nvPr>
        </p:nvSpPr>
        <p:spPr/>
        <p:txBody>
          <a:bodyPr/>
          <a:lstStyle/>
          <a:p>
            <a:r>
              <a:rPr lang="en-US" dirty="0"/>
              <a:t>When does it work (or not)?</a:t>
            </a:r>
          </a:p>
        </p:txBody>
      </p:sp>
      <p:sp>
        <p:nvSpPr>
          <p:cNvPr id="3" name="Content Placeholder 2">
            <a:extLst>
              <a:ext uri="{FF2B5EF4-FFF2-40B4-BE49-F238E27FC236}">
                <a16:creationId xmlns:a16="http://schemas.microsoft.com/office/drawing/2014/main" id="{FCFEE1D1-3991-B84A-8C70-CF1E0FBD74B8}"/>
              </a:ext>
            </a:extLst>
          </p:cNvPr>
          <p:cNvSpPr>
            <a:spLocks noGrp="1"/>
          </p:cNvSpPr>
          <p:nvPr>
            <p:ph idx="1"/>
          </p:nvPr>
        </p:nvSpPr>
        <p:spPr>
          <a:xfrm>
            <a:off x="1451579" y="1853754"/>
            <a:ext cx="9603275" cy="4199727"/>
          </a:xfrm>
        </p:spPr>
        <p:txBody>
          <a:bodyPr>
            <a:normAutofit/>
          </a:bodyPr>
          <a:lstStyle/>
          <a:p>
            <a:r>
              <a:rPr lang="en-US" dirty="0"/>
              <a:t>To no one’s surprise, the more similar the datasets, the better the transfer. </a:t>
            </a:r>
          </a:p>
          <a:p>
            <a:r>
              <a:rPr lang="en-US" dirty="0"/>
              <a:t>Common use cases are image recognition and language. </a:t>
            </a:r>
          </a:p>
          <a:p>
            <a:r>
              <a:rPr lang="en-US" dirty="0"/>
              <a:t>Natural Language Processing:</a:t>
            </a:r>
          </a:p>
          <a:p>
            <a:pPr lvl="1"/>
            <a:r>
              <a:rPr lang="en-US" dirty="0"/>
              <a:t>Language structure, word meanings, etc... are all very generalizable to other problems. </a:t>
            </a:r>
          </a:p>
          <a:p>
            <a:pPr lvl="1"/>
            <a:r>
              <a:rPr lang="en-US" dirty="0"/>
              <a:t>Word2Vec was a transfer learning application – </a:t>
            </a:r>
            <a:r>
              <a:rPr lang="en-US" dirty="0" err="1"/>
              <a:t>emb</a:t>
            </a:r>
            <a:r>
              <a:rPr lang="en-US" dirty="0"/>
              <a:t> space defined on large corpus.</a:t>
            </a:r>
          </a:p>
          <a:p>
            <a:r>
              <a:rPr lang="en-US" dirty="0"/>
              <a:t>Image Processing:</a:t>
            </a:r>
          </a:p>
          <a:p>
            <a:pPr lvl="1"/>
            <a:r>
              <a:rPr lang="en-US" dirty="0"/>
              <a:t>Multiple pretrained models in </a:t>
            </a:r>
            <a:r>
              <a:rPr lang="en-US" dirty="0" err="1"/>
              <a:t>pytorch</a:t>
            </a:r>
            <a:r>
              <a:rPr lang="en-US" dirty="0"/>
              <a:t>. </a:t>
            </a:r>
          </a:p>
          <a:p>
            <a:pPr lvl="1"/>
            <a:r>
              <a:rPr lang="en-US" dirty="0"/>
              <a:t>Datasets and complexity make training a model like this at home impractical. </a:t>
            </a:r>
          </a:p>
          <a:p>
            <a:r>
              <a:rPr lang="en-US" dirty="0"/>
              <a:t>Allows us to leverage similar scenarios to learn more quickly – like real life!</a:t>
            </a:r>
          </a:p>
        </p:txBody>
      </p:sp>
    </p:spTree>
    <p:extLst>
      <p:ext uri="{BB962C8B-B14F-4D97-AF65-F5344CB8AC3E}">
        <p14:creationId xmlns:p14="http://schemas.microsoft.com/office/powerpoint/2010/main" val="6437266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DAA93-C61B-6943-9CE8-CF0B1A64B93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11116B-19BB-7248-BDA0-53A2805EF253}"/>
              </a:ext>
            </a:extLst>
          </p:cNvPr>
          <p:cNvSpPr>
            <a:spLocks noGrp="1"/>
          </p:cNvSpPr>
          <p:nvPr>
            <p:ph idx="1"/>
          </p:nvPr>
        </p:nvSpPr>
        <p:spPr/>
        <p:txBody>
          <a:bodyPr/>
          <a:lstStyle/>
          <a:p>
            <a:endParaRPr lang="en-US"/>
          </a:p>
        </p:txBody>
      </p:sp>
      <p:pic>
        <p:nvPicPr>
          <p:cNvPr id="2050" name="Picture 2">
            <a:extLst>
              <a:ext uri="{FF2B5EF4-FFF2-40B4-BE49-F238E27FC236}">
                <a16:creationId xmlns:a16="http://schemas.microsoft.com/office/drawing/2014/main" id="{8C28C00F-3697-F14E-B167-C09CC1174C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787" y="569683"/>
            <a:ext cx="11106426" cy="5483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252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BCA7D-8E04-A94D-B3D7-E9B97C8E3DCC}"/>
              </a:ext>
            </a:extLst>
          </p:cNvPr>
          <p:cNvSpPr>
            <a:spLocks noGrp="1"/>
          </p:cNvSpPr>
          <p:nvPr>
            <p:ph type="title"/>
          </p:nvPr>
        </p:nvSpPr>
        <p:spPr/>
        <p:txBody>
          <a:bodyPr/>
          <a:lstStyle/>
          <a:p>
            <a:r>
              <a:rPr lang="en-US" dirty="0"/>
              <a:t>VGG16</a:t>
            </a:r>
          </a:p>
        </p:txBody>
      </p:sp>
      <p:sp>
        <p:nvSpPr>
          <p:cNvPr id="3" name="Content Placeholder 2">
            <a:extLst>
              <a:ext uri="{FF2B5EF4-FFF2-40B4-BE49-F238E27FC236}">
                <a16:creationId xmlns:a16="http://schemas.microsoft.com/office/drawing/2014/main" id="{C083265C-27B9-F74E-820B-566996EF4498}"/>
              </a:ext>
            </a:extLst>
          </p:cNvPr>
          <p:cNvSpPr>
            <a:spLocks noGrp="1"/>
          </p:cNvSpPr>
          <p:nvPr>
            <p:ph idx="1"/>
          </p:nvPr>
        </p:nvSpPr>
        <p:spPr>
          <a:xfrm>
            <a:off x="1451579" y="1853754"/>
            <a:ext cx="9603275" cy="1721081"/>
          </a:xfrm>
        </p:spPr>
        <p:txBody>
          <a:bodyPr>
            <a:normAutofit fontScale="92500" lnSpcReduction="20000"/>
          </a:bodyPr>
          <a:lstStyle/>
          <a:p>
            <a:r>
              <a:rPr lang="en-US" dirty="0"/>
              <a:t>VGG 16 patterned the general form of the models we typically use. </a:t>
            </a:r>
          </a:p>
          <a:p>
            <a:r>
              <a:rPr lang="en-US" dirty="0"/>
              <a:t>Contains 16 (“real”) layers. </a:t>
            </a:r>
          </a:p>
          <a:p>
            <a:r>
              <a:rPr lang="en-US" dirty="0"/>
              <a:t>Larger models, with 100s of layers, have surpassed in accuracy. </a:t>
            </a:r>
          </a:p>
          <a:p>
            <a:r>
              <a:rPr lang="en-US" dirty="0"/>
              <a:t>Trained on the very large </a:t>
            </a:r>
            <a:r>
              <a:rPr lang="en-US" dirty="0" err="1"/>
              <a:t>Imagenet</a:t>
            </a:r>
            <a:r>
              <a:rPr lang="en-US" dirty="0"/>
              <a:t> database. </a:t>
            </a:r>
          </a:p>
        </p:txBody>
      </p:sp>
      <p:pic>
        <p:nvPicPr>
          <p:cNvPr id="4098" name="Picture 2">
            <a:extLst>
              <a:ext uri="{FF2B5EF4-FFF2-40B4-BE49-F238E27FC236}">
                <a16:creationId xmlns:a16="http://schemas.microsoft.com/office/drawing/2014/main" id="{9D6C2AD6-94D2-254A-9BE5-6CF12C749B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747833"/>
            <a:ext cx="12192000"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9084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D8D4A-64B4-1F4D-B503-659B3786ADE2}"/>
              </a:ext>
            </a:extLst>
          </p:cNvPr>
          <p:cNvSpPr>
            <a:spLocks noGrp="1"/>
          </p:cNvSpPr>
          <p:nvPr>
            <p:ph type="title"/>
          </p:nvPr>
        </p:nvSpPr>
        <p:spPr/>
        <p:txBody>
          <a:bodyPr/>
          <a:lstStyle/>
          <a:p>
            <a:r>
              <a:rPr lang="en-US" dirty="0"/>
              <a:t>VGG16</a:t>
            </a:r>
          </a:p>
        </p:txBody>
      </p:sp>
      <p:sp>
        <p:nvSpPr>
          <p:cNvPr id="3" name="Content Placeholder 2">
            <a:extLst>
              <a:ext uri="{FF2B5EF4-FFF2-40B4-BE49-F238E27FC236}">
                <a16:creationId xmlns:a16="http://schemas.microsoft.com/office/drawing/2014/main" id="{58347163-8646-6349-BEF9-E86F6D2F9B39}"/>
              </a:ext>
            </a:extLst>
          </p:cNvPr>
          <p:cNvSpPr>
            <a:spLocks noGrp="1"/>
          </p:cNvSpPr>
          <p:nvPr>
            <p:ph idx="1"/>
          </p:nvPr>
        </p:nvSpPr>
        <p:spPr/>
        <p:txBody>
          <a:bodyPr/>
          <a:lstStyle/>
          <a:p>
            <a:endParaRPr lang="en-US"/>
          </a:p>
        </p:txBody>
      </p:sp>
      <p:pic>
        <p:nvPicPr>
          <p:cNvPr id="3074" name="Picture 2">
            <a:extLst>
              <a:ext uri="{FF2B5EF4-FFF2-40B4-BE49-F238E27FC236}">
                <a16:creationId xmlns:a16="http://schemas.microsoft.com/office/drawing/2014/main" id="{483911A3-B898-D441-921F-AA352016C5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29864"/>
            <a:ext cx="12192000" cy="3184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473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7DA41-CDA2-F042-8870-7A043689D62E}"/>
              </a:ext>
            </a:extLst>
          </p:cNvPr>
          <p:cNvSpPr>
            <a:spLocks noGrp="1"/>
          </p:cNvSpPr>
          <p:nvPr>
            <p:ph type="title"/>
          </p:nvPr>
        </p:nvSpPr>
        <p:spPr/>
        <p:txBody>
          <a:bodyPr/>
          <a:lstStyle/>
          <a:p>
            <a:r>
              <a:rPr lang="en-US" dirty="0"/>
              <a:t>Implementing Transfer Learning</a:t>
            </a:r>
          </a:p>
        </p:txBody>
      </p:sp>
      <p:sp>
        <p:nvSpPr>
          <p:cNvPr id="3" name="Content Placeholder 2">
            <a:extLst>
              <a:ext uri="{FF2B5EF4-FFF2-40B4-BE49-F238E27FC236}">
                <a16:creationId xmlns:a16="http://schemas.microsoft.com/office/drawing/2014/main" id="{51FC1184-001B-A644-8340-9B58055FFBF3}"/>
              </a:ext>
            </a:extLst>
          </p:cNvPr>
          <p:cNvSpPr>
            <a:spLocks noGrp="1"/>
          </p:cNvSpPr>
          <p:nvPr>
            <p:ph idx="1"/>
          </p:nvPr>
        </p:nvSpPr>
        <p:spPr>
          <a:xfrm>
            <a:off x="1451579" y="1853754"/>
            <a:ext cx="9603275" cy="4298568"/>
          </a:xfrm>
        </p:spPr>
        <p:txBody>
          <a:bodyPr>
            <a:normAutofit/>
          </a:bodyPr>
          <a:lstStyle/>
          <a:p>
            <a:r>
              <a:rPr lang="en-US" dirty="0"/>
              <a:t>Using transfer learning is relatively simple:</a:t>
            </a:r>
          </a:p>
          <a:p>
            <a:pPr lvl="1"/>
            <a:r>
              <a:rPr lang="en-US" dirty="0"/>
              <a:t>Load the pretrained model, and pay attention to the individual layers. </a:t>
            </a:r>
          </a:p>
          <a:p>
            <a:pPr lvl="2"/>
            <a:r>
              <a:rPr lang="en-US" dirty="0"/>
              <a:t>Download the pretrained weights for the model, if that’s a separate step. </a:t>
            </a:r>
          </a:p>
          <a:p>
            <a:pPr lvl="2"/>
            <a:r>
              <a:rPr lang="en-US" dirty="0"/>
              <a:t>Set the convolutional layers to not be trained. They don’t need grad. </a:t>
            </a:r>
          </a:p>
          <a:p>
            <a:pPr lvl="2"/>
            <a:r>
              <a:rPr lang="en-US" dirty="0"/>
              <a:t>Adapt data, if needed, in preprocessing. </a:t>
            </a:r>
          </a:p>
          <a:p>
            <a:pPr lvl="1"/>
            <a:r>
              <a:rPr lang="en-US" dirty="0"/>
              <a:t>Attach our own classification layers.</a:t>
            </a:r>
          </a:p>
          <a:p>
            <a:pPr lvl="2"/>
            <a:r>
              <a:rPr lang="en-US" dirty="0"/>
              <a:t>Output layer + preceding dense layers. </a:t>
            </a:r>
          </a:p>
          <a:p>
            <a:pPr lvl="1"/>
            <a:r>
              <a:rPr lang="en-US" dirty="0"/>
              <a:t>Train on our data. </a:t>
            </a:r>
          </a:p>
          <a:p>
            <a:pPr lvl="2"/>
            <a:r>
              <a:rPr lang="en-US" dirty="0"/>
              <a:t>Only the added layers learn in training. Learn to use what model sees to classify our classes. </a:t>
            </a:r>
          </a:p>
          <a:p>
            <a:pPr lvl="1"/>
            <a:r>
              <a:rPr lang="en-US" dirty="0"/>
              <a:t>Optional – unlock and retrain to fine tune. </a:t>
            </a:r>
          </a:p>
          <a:p>
            <a:pPr lvl="2"/>
            <a:r>
              <a:rPr lang="en-US" dirty="0"/>
              <a:t>Gently adjust the model to more closely match our data. </a:t>
            </a:r>
          </a:p>
        </p:txBody>
      </p:sp>
    </p:spTree>
    <p:extLst>
      <p:ext uri="{BB962C8B-B14F-4D97-AF65-F5344CB8AC3E}">
        <p14:creationId xmlns:p14="http://schemas.microsoft.com/office/powerpoint/2010/main" val="42856989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A3D88-E9A6-3D4C-96E3-E643571154F1}"/>
              </a:ext>
            </a:extLst>
          </p:cNvPr>
          <p:cNvSpPr>
            <a:spLocks noGrp="1"/>
          </p:cNvSpPr>
          <p:nvPr>
            <p:ph type="title"/>
          </p:nvPr>
        </p:nvSpPr>
        <p:spPr/>
        <p:txBody>
          <a:bodyPr/>
          <a:lstStyle/>
          <a:p>
            <a:r>
              <a:rPr lang="en-US" dirty="0"/>
              <a:t>Implementing Transfer Learning</a:t>
            </a:r>
          </a:p>
        </p:txBody>
      </p:sp>
      <p:sp>
        <p:nvSpPr>
          <p:cNvPr id="3" name="Content Placeholder 2">
            <a:extLst>
              <a:ext uri="{FF2B5EF4-FFF2-40B4-BE49-F238E27FC236}">
                <a16:creationId xmlns:a16="http://schemas.microsoft.com/office/drawing/2014/main" id="{265A13C4-4A4F-6C4B-A46D-2E4109014AF8}"/>
              </a:ext>
            </a:extLst>
          </p:cNvPr>
          <p:cNvSpPr>
            <a:spLocks noGrp="1"/>
          </p:cNvSpPr>
          <p:nvPr>
            <p:ph idx="1"/>
          </p:nvPr>
        </p:nvSpPr>
        <p:spPr>
          <a:xfrm>
            <a:off x="1451579" y="2015731"/>
            <a:ext cx="9603275" cy="4037749"/>
          </a:xfrm>
        </p:spPr>
        <p:txBody>
          <a:bodyPr>
            <a:normAutofit/>
          </a:bodyPr>
          <a:lstStyle/>
          <a:p>
            <a:r>
              <a:rPr lang="en-US" dirty="0"/>
              <a:t>Load pretrained model:</a:t>
            </a:r>
          </a:p>
          <a:p>
            <a:pPr lvl="1"/>
            <a:r>
              <a:rPr lang="en-US" dirty="0"/>
              <a:t>There are many well trained image recognition models that are shared, </a:t>
            </a:r>
            <a:r>
              <a:rPr lang="en-US" dirty="0" err="1"/>
              <a:t>vgg</a:t>
            </a:r>
            <a:r>
              <a:rPr lang="en-US" dirty="0"/>
              <a:t> is one. </a:t>
            </a:r>
          </a:p>
          <a:p>
            <a:pPr lvl="1"/>
            <a:r>
              <a:rPr lang="en-US" dirty="0"/>
              <a:t>When loading it we need to ensure we load the old weights.</a:t>
            </a:r>
          </a:p>
          <a:p>
            <a:pPr lvl="1"/>
            <a:r>
              <a:rPr lang="en-US" dirty="0"/>
              <a:t>We remove the CNN layers and set the model to not update its weights.  </a:t>
            </a:r>
          </a:p>
          <a:p>
            <a:r>
              <a:rPr lang="en-US" dirty="0"/>
              <a:t>Add our own classifier:</a:t>
            </a:r>
          </a:p>
          <a:p>
            <a:pPr lvl="1"/>
            <a:r>
              <a:rPr lang="en-US" dirty="0"/>
              <a:t>The </a:t>
            </a:r>
            <a:r>
              <a:rPr lang="en-US" dirty="0" err="1"/>
              <a:t>imagenet</a:t>
            </a:r>
            <a:r>
              <a:rPr lang="en-US" dirty="0"/>
              <a:t> data is classified into ~1000 classes. </a:t>
            </a:r>
          </a:p>
          <a:p>
            <a:pPr lvl="1"/>
            <a:r>
              <a:rPr lang="en-US" dirty="0"/>
              <a:t>Our data has 5 classes. </a:t>
            </a:r>
          </a:p>
          <a:p>
            <a:pPr lvl="1"/>
            <a:r>
              <a:rPr lang="en-US" dirty="0"/>
              <a:t>After the trained model does the feature extraction, we want to classify those features into one of 5 classes. </a:t>
            </a:r>
          </a:p>
          <a:p>
            <a:pPr lvl="1"/>
            <a:r>
              <a:rPr lang="en-US" dirty="0"/>
              <a:t>This part does get trained – it learns how to use VGG’s features to make classifications. </a:t>
            </a:r>
          </a:p>
        </p:txBody>
      </p:sp>
    </p:spTree>
    <p:extLst>
      <p:ext uri="{BB962C8B-B14F-4D97-AF65-F5344CB8AC3E}">
        <p14:creationId xmlns:p14="http://schemas.microsoft.com/office/powerpoint/2010/main" val="1220192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04F7A-AF69-7B4A-A398-3A07ADB5D1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D459F1-FA17-694A-AA1B-0BDC6D9EA0A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BF3851E-5305-B440-B277-84EE6F01BF0F}"/>
              </a:ext>
            </a:extLst>
          </p:cNvPr>
          <p:cNvPicPr>
            <a:picLocks noChangeAspect="1"/>
          </p:cNvPicPr>
          <p:nvPr/>
        </p:nvPicPr>
        <p:blipFill>
          <a:blip r:embed="rId2"/>
          <a:stretch>
            <a:fillRect/>
          </a:stretch>
        </p:blipFill>
        <p:spPr>
          <a:xfrm>
            <a:off x="714549" y="804519"/>
            <a:ext cx="11477451" cy="4397676"/>
          </a:xfrm>
          <a:prstGeom prst="rect">
            <a:avLst/>
          </a:prstGeom>
        </p:spPr>
      </p:pic>
    </p:spTree>
    <p:extLst>
      <p:ext uri="{BB962C8B-B14F-4D97-AF65-F5344CB8AC3E}">
        <p14:creationId xmlns:p14="http://schemas.microsoft.com/office/powerpoint/2010/main" val="24758495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CA3EE-D2BD-CC46-924A-AAFE01F53982}"/>
              </a:ext>
            </a:extLst>
          </p:cNvPr>
          <p:cNvSpPr>
            <a:spLocks noGrp="1"/>
          </p:cNvSpPr>
          <p:nvPr>
            <p:ph type="title"/>
          </p:nvPr>
        </p:nvSpPr>
        <p:spPr/>
        <p:txBody>
          <a:bodyPr/>
          <a:lstStyle/>
          <a:p>
            <a:r>
              <a:rPr lang="en-US" dirty="0"/>
              <a:t>Fine Tuning</a:t>
            </a:r>
          </a:p>
        </p:txBody>
      </p:sp>
      <p:sp>
        <p:nvSpPr>
          <p:cNvPr id="3" name="Content Placeholder 2">
            <a:extLst>
              <a:ext uri="{FF2B5EF4-FFF2-40B4-BE49-F238E27FC236}">
                <a16:creationId xmlns:a16="http://schemas.microsoft.com/office/drawing/2014/main" id="{13EE2D16-3963-5249-8019-9665DD25442A}"/>
              </a:ext>
            </a:extLst>
          </p:cNvPr>
          <p:cNvSpPr>
            <a:spLocks noGrp="1"/>
          </p:cNvSpPr>
          <p:nvPr>
            <p:ph idx="1"/>
          </p:nvPr>
        </p:nvSpPr>
        <p:spPr>
          <a:xfrm>
            <a:off x="1" y="1853754"/>
            <a:ext cx="6350466" cy="4199727"/>
          </a:xfrm>
        </p:spPr>
        <p:txBody>
          <a:bodyPr>
            <a:normAutofit fontScale="92500"/>
          </a:bodyPr>
          <a:lstStyle/>
          <a:p>
            <a:r>
              <a:rPr lang="en-US" dirty="0"/>
              <a:t>When we initially use our transfer model we end up with:</a:t>
            </a:r>
          </a:p>
          <a:p>
            <a:pPr lvl="1"/>
            <a:r>
              <a:rPr lang="en-US" dirty="0"/>
              <a:t>Convolutional layers that are trained on the pretrained data. </a:t>
            </a:r>
          </a:p>
          <a:p>
            <a:pPr lvl="1"/>
            <a:r>
              <a:rPr lang="en-US" dirty="0"/>
              <a:t>Classification layers that have trained on our data. </a:t>
            </a:r>
          </a:p>
          <a:p>
            <a:r>
              <a:rPr lang="en-US" dirty="0"/>
              <a:t>Fine tuning updates the entire model to fit our data better:</a:t>
            </a:r>
          </a:p>
          <a:p>
            <a:pPr lvl="1"/>
            <a:r>
              <a:rPr lang="en-US" dirty="0"/>
              <a:t>Unlock the entire model, so it all learns in training. </a:t>
            </a:r>
          </a:p>
          <a:p>
            <a:pPr lvl="1"/>
            <a:r>
              <a:rPr lang="en-US" dirty="0"/>
              <a:t>Set the learning rate extremely low. </a:t>
            </a:r>
          </a:p>
          <a:p>
            <a:pPr lvl="1"/>
            <a:r>
              <a:rPr lang="en-US" dirty="0"/>
              <a:t>Retrain on all the data. </a:t>
            </a:r>
          </a:p>
          <a:p>
            <a:r>
              <a:rPr lang="en-US" dirty="0"/>
              <a:t>Result is that the entire model is slightly adjusted through some small training. </a:t>
            </a:r>
          </a:p>
        </p:txBody>
      </p:sp>
      <p:pic>
        <p:nvPicPr>
          <p:cNvPr id="4" name="Picture 3" descr="Fine-tuning with Keras and Deep Learning - PyImageSearch">
            <a:extLst>
              <a:ext uri="{FF2B5EF4-FFF2-40B4-BE49-F238E27FC236}">
                <a16:creationId xmlns:a16="http://schemas.microsoft.com/office/drawing/2014/main" id="{79C56D10-8060-CD75-B790-D2F25255289E}"/>
              </a:ext>
            </a:extLst>
          </p:cNvPr>
          <p:cNvPicPr>
            <a:picLocks noChangeAspect="1"/>
          </p:cNvPicPr>
          <p:nvPr/>
        </p:nvPicPr>
        <p:blipFill>
          <a:blip r:embed="rId2"/>
          <a:stretch>
            <a:fillRect/>
          </a:stretch>
        </p:blipFill>
        <p:spPr>
          <a:xfrm>
            <a:off x="6350467" y="1438655"/>
            <a:ext cx="5841533" cy="5004247"/>
          </a:xfrm>
          <a:prstGeom prst="rect">
            <a:avLst/>
          </a:prstGeom>
        </p:spPr>
      </p:pic>
    </p:spTree>
    <p:extLst>
      <p:ext uri="{BB962C8B-B14F-4D97-AF65-F5344CB8AC3E}">
        <p14:creationId xmlns:p14="http://schemas.microsoft.com/office/powerpoint/2010/main" val="1818164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DE5F8-4668-4947-B059-D348209E27F5}"/>
              </a:ext>
            </a:extLst>
          </p:cNvPr>
          <p:cNvSpPr>
            <a:spLocks noGrp="1"/>
          </p:cNvSpPr>
          <p:nvPr>
            <p:ph type="title"/>
          </p:nvPr>
        </p:nvSpPr>
        <p:spPr/>
        <p:txBody>
          <a:bodyPr/>
          <a:lstStyle/>
          <a:p>
            <a:r>
              <a:rPr lang="en-US" dirty="0"/>
              <a:t>More Retraining</a:t>
            </a:r>
          </a:p>
        </p:txBody>
      </p:sp>
      <p:sp>
        <p:nvSpPr>
          <p:cNvPr id="3" name="Content Placeholder 2">
            <a:extLst>
              <a:ext uri="{FF2B5EF4-FFF2-40B4-BE49-F238E27FC236}">
                <a16:creationId xmlns:a16="http://schemas.microsoft.com/office/drawing/2014/main" id="{2B2D16D7-CE69-AC4B-8EB8-43EDEFE4723E}"/>
              </a:ext>
            </a:extLst>
          </p:cNvPr>
          <p:cNvSpPr>
            <a:spLocks noGrp="1"/>
          </p:cNvSpPr>
          <p:nvPr>
            <p:ph idx="1"/>
          </p:nvPr>
        </p:nvSpPr>
        <p:spPr>
          <a:xfrm>
            <a:off x="1451579" y="1928192"/>
            <a:ext cx="9603275" cy="4125290"/>
          </a:xfrm>
        </p:spPr>
        <p:txBody>
          <a:bodyPr/>
          <a:lstStyle/>
          <a:p>
            <a:r>
              <a:rPr lang="en-US" dirty="0"/>
              <a:t>In addition to just removing the output bits, we can allow for retraining of other layers.</a:t>
            </a:r>
          </a:p>
          <a:p>
            <a:r>
              <a:rPr lang="en-US" dirty="0"/>
              <a:t>This removes some of the existing training, making the model adapt more to our data. </a:t>
            </a:r>
          </a:p>
          <a:p>
            <a:r>
              <a:rPr lang="en-US" dirty="0"/>
              <a:t>If our dataset is more different from the original, this may help. </a:t>
            </a:r>
          </a:p>
          <a:p>
            <a:pPr lvl="1"/>
            <a:r>
              <a:rPr lang="en-US" dirty="0"/>
              <a:t>I.e. use the pretrained layers to extract image features at a higher level. </a:t>
            </a:r>
          </a:p>
          <a:p>
            <a:pPr lvl="1"/>
            <a:r>
              <a:rPr lang="en-US" dirty="0"/>
              <a:t>Train layers ourselves to bend the model towards our data. </a:t>
            </a:r>
          </a:p>
          <a:p>
            <a:r>
              <a:rPr lang="en-US" dirty="0"/>
              <a:t>We are removing some of the pretrained intelligence:</a:t>
            </a:r>
          </a:p>
          <a:p>
            <a:pPr lvl="1"/>
            <a:r>
              <a:rPr lang="en-US" dirty="0"/>
              <a:t>If our training set is small, we might end up behind where we started. </a:t>
            </a:r>
          </a:p>
          <a:p>
            <a:r>
              <a:rPr lang="en-US" dirty="0"/>
              <a:t>Be cautious with doing this, and keep the learning rate low. You can make it worse. </a:t>
            </a:r>
          </a:p>
          <a:p>
            <a:r>
              <a:rPr lang="en-US" dirty="0"/>
              <a:t>We can control the trainability of each layer individually. </a:t>
            </a:r>
          </a:p>
        </p:txBody>
      </p:sp>
    </p:spTree>
    <p:extLst>
      <p:ext uri="{BB962C8B-B14F-4D97-AF65-F5344CB8AC3E}">
        <p14:creationId xmlns:p14="http://schemas.microsoft.com/office/powerpoint/2010/main" val="170944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60074-944C-C44A-A834-AFA7FC891A0E}"/>
              </a:ext>
            </a:extLst>
          </p:cNvPr>
          <p:cNvSpPr>
            <a:spLocks noGrp="1"/>
          </p:cNvSpPr>
          <p:nvPr>
            <p:ph type="title"/>
          </p:nvPr>
        </p:nvSpPr>
        <p:spPr>
          <a:xfrm>
            <a:off x="1451579" y="804519"/>
            <a:ext cx="10255229" cy="1049235"/>
          </a:xfrm>
        </p:spPr>
        <p:txBody>
          <a:bodyPr>
            <a:normAutofit/>
          </a:bodyPr>
          <a:lstStyle/>
          <a:p>
            <a:r>
              <a:rPr lang="en-US" dirty="0"/>
              <a:t>E.g. Freeze Part, retrain Part</a:t>
            </a:r>
            <a:br>
              <a:rPr lang="en-US" dirty="0"/>
            </a:br>
            <a:r>
              <a:rPr lang="en-US" dirty="0"/>
              <a:t>(you likely don’t want to do this w/o reason)</a:t>
            </a:r>
          </a:p>
        </p:txBody>
      </p:sp>
      <p:sp>
        <p:nvSpPr>
          <p:cNvPr id="3" name="Content Placeholder 2">
            <a:extLst>
              <a:ext uri="{FF2B5EF4-FFF2-40B4-BE49-F238E27FC236}">
                <a16:creationId xmlns:a16="http://schemas.microsoft.com/office/drawing/2014/main" id="{B8912A5C-62CB-E64B-9A85-E55EAC61D91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3A1286C-ADAE-234F-AE45-4CF50AF6BBA7}"/>
              </a:ext>
            </a:extLst>
          </p:cNvPr>
          <p:cNvPicPr>
            <a:picLocks noChangeAspect="1"/>
          </p:cNvPicPr>
          <p:nvPr/>
        </p:nvPicPr>
        <p:blipFill>
          <a:blip r:embed="rId2"/>
          <a:stretch>
            <a:fillRect/>
          </a:stretch>
        </p:blipFill>
        <p:spPr>
          <a:xfrm>
            <a:off x="61283" y="1878234"/>
            <a:ext cx="12137815" cy="4386649"/>
          </a:xfrm>
          <a:prstGeom prst="rect">
            <a:avLst/>
          </a:prstGeom>
        </p:spPr>
      </p:pic>
    </p:spTree>
    <p:extLst>
      <p:ext uri="{BB962C8B-B14F-4D97-AF65-F5344CB8AC3E}">
        <p14:creationId xmlns:p14="http://schemas.microsoft.com/office/powerpoint/2010/main" val="1095741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08892-B432-4341-9684-A6E84CE3070E}"/>
              </a:ext>
            </a:extLst>
          </p:cNvPr>
          <p:cNvSpPr>
            <a:spLocks noGrp="1"/>
          </p:cNvSpPr>
          <p:nvPr>
            <p:ph type="title"/>
          </p:nvPr>
        </p:nvSpPr>
        <p:spPr/>
        <p:txBody>
          <a:bodyPr/>
          <a:lstStyle/>
          <a:p>
            <a:r>
              <a:rPr lang="en-US" dirty="0"/>
              <a:t>Practical Applications</a:t>
            </a:r>
          </a:p>
        </p:txBody>
      </p:sp>
      <p:sp>
        <p:nvSpPr>
          <p:cNvPr id="3" name="Content Placeholder 2">
            <a:extLst>
              <a:ext uri="{FF2B5EF4-FFF2-40B4-BE49-F238E27FC236}">
                <a16:creationId xmlns:a16="http://schemas.microsoft.com/office/drawing/2014/main" id="{2756CE18-BE9E-0941-94F9-9E485B4793B9}"/>
              </a:ext>
            </a:extLst>
          </p:cNvPr>
          <p:cNvSpPr>
            <a:spLocks noGrp="1"/>
          </p:cNvSpPr>
          <p:nvPr>
            <p:ph idx="1"/>
          </p:nvPr>
        </p:nvSpPr>
        <p:spPr>
          <a:xfrm>
            <a:off x="1451579" y="1923692"/>
            <a:ext cx="9603275" cy="4129790"/>
          </a:xfrm>
        </p:spPr>
        <p:txBody>
          <a:bodyPr/>
          <a:lstStyle/>
          <a:p>
            <a:r>
              <a:rPr lang="en-US" dirty="0"/>
              <a:t>Transfer learning can help in many real-world scenarios.</a:t>
            </a:r>
          </a:p>
          <a:p>
            <a:r>
              <a:rPr lang="en-US" dirty="0"/>
              <a:t>Many problems are similar – image recognition, text processing. </a:t>
            </a:r>
          </a:p>
          <a:p>
            <a:r>
              <a:rPr lang="en-US" dirty="0"/>
              <a:t>Largely used in unstructured applications that get natural world data. </a:t>
            </a:r>
          </a:p>
          <a:p>
            <a:r>
              <a:rPr lang="en-US" dirty="0"/>
              <a:t>Other problems are very large – self driving car.</a:t>
            </a:r>
          </a:p>
          <a:p>
            <a:pPr lvl="1"/>
            <a:r>
              <a:rPr lang="en-US" dirty="0"/>
              <a:t>I’d personally legislate that automakers must open-source their models and training data.</a:t>
            </a:r>
          </a:p>
          <a:p>
            <a:endParaRPr lang="en-US" dirty="0"/>
          </a:p>
          <a:p>
            <a:r>
              <a:rPr lang="en-US" dirty="0"/>
              <a:t>In either of these scenarios, being able to build on the learning of other models can both speed and improve performance. </a:t>
            </a:r>
          </a:p>
        </p:txBody>
      </p:sp>
    </p:spTree>
    <p:extLst>
      <p:ext uri="{BB962C8B-B14F-4D97-AF65-F5344CB8AC3E}">
        <p14:creationId xmlns:p14="http://schemas.microsoft.com/office/powerpoint/2010/main" val="2958274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21EEA-12F6-F947-8344-C8C0B5524039}"/>
              </a:ext>
            </a:extLst>
          </p:cNvPr>
          <p:cNvSpPr>
            <a:spLocks noGrp="1"/>
          </p:cNvSpPr>
          <p:nvPr>
            <p:ph type="title"/>
          </p:nvPr>
        </p:nvSpPr>
        <p:spPr>
          <a:xfrm>
            <a:off x="1451579" y="804519"/>
            <a:ext cx="9603275" cy="1049235"/>
          </a:xfrm>
        </p:spPr>
        <p:txBody>
          <a:bodyPr>
            <a:normAutofit/>
          </a:bodyPr>
          <a:lstStyle/>
          <a:p>
            <a:r>
              <a:rPr lang="en-US" dirty="0"/>
              <a:t>Image recognition</a:t>
            </a:r>
          </a:p>
        </p:txBody>
      </p:sp>
      <p:pic>
        <p:nvPicPr>
          <p:cNvPr id="10242" name="Picture 2" descr="STRANGE A-FRAME TRAIN | Travel meme, Funny pictures, Model trains">
            <a:extLst>
              <a:ext uri="{FF2B5EF4-FFF2-40B4-BE49-F238E27FC236}">
                <a16:creationId xmlns:a16="http://schemas.microsoft.com/office/drawing/2014/main" id="{94389EAB-187B-B74F-A08E-04EBADDB54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527" t="15264" r="7890" b="16923"/>
          <a:stretch/>
        </p:blipFill>
        <p:spPr bwMode="auto">
          <a:xfrm>
            <a:off x="537179" y="2274665"/>
            <a:ext cx="4960443" cy="293275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EA6C5B6-1E91-3145-9C42-775965341320}"/>
              </a:ext>
            </a:extLst>
          </p:cNvPr>
          <p:cNvSpPr>
            <a:spLocks noGrp="1"/>
          </p:cNvSpPr>
          <p:nvPr>
            <p:ph idx="1"/>
          </p:nvPr>
        </p:nvSpPr>
        <p:spPr>
          <a:xfrm>
            <a:off x="5497622" y="1958010"/>
            <a:ext cx="6694377" cy="4095472"/>
          </a:xfrm>
        </p:spPr>
        <p:txBody>
          <a:bodyPr>
            <a:normAutofit/>
          </a:bodyPr>
          <a:lstStyle/>
          <a:p>
            <a:pPr>
              <a:lnSpc>
                <a:spcPct val="110000"/>
              </a:lnSpc>
            </a:pPr>
            <a:r>
              <a:rPr lang="en-US" sz="1800" dirty="0"/>
              <a:t>Image recognition is a massive application of transfer learning. </a:t>
            </a:r>
          </a:p>
          <a:p>
            <a:pPr lvl="1">
              <a:lnSpc>
                <a:spcPct val="110000"/>
              </a:lnSpc>
            </a:pPr>
            <a:r>
              <a:rPr lang="en-US" dirty="0"/>
              <a:t>Images are large, so the processing required for accurate models is massive. </a:t>
            </a:r>
          </a:p>
          <a:p>
            <a:pPr>
              <a:lnSpc>
                <a:spcPct val="110000"/>
              </a:lnSpc>
            </a:pPr>
            <a:r>
              <a:rPr lang="en-US" sz="1800" dirty="0"/>
              <a:t>There is a large amount of transferability of skill.</a:t>
            </a:r>
          </a:p>
          <a:p>
            <a:pPr lvl="1">
              <a:lnSpc>
                <a:spcPct val="110000"/>
              </a:lnSpc>
            </a:pPr>
            <a:r>
              <a:rPr lang="en-US" dirty="0"/>
              <a:t>E.g. you can recognize a dog you’ve never seen before as a dog. </a:t>
            </a:r>
          </a:p>
          <a:p>
            <a:pPr lvl="1">
              <a:lnSpc>
                <a:spcPct val="110000"/>
              </a:lnSpc>
            </a:pPr>
            <a:r>
              <a:rPr lang="en-US" dirty="0"/>
              <a:t>You can recognize a weird train car as a train, and as a method of transport. </a:t>
            </a:r>
          </a:p>
          <a:p>
            <a:pPr>
              <a:lnSpc>
                <a:spcPct val="110000"/>
              </a:lnSpc>
            </a:pPr>
            <a:r>
              <a:rPr lang="en-US" sz="1800" dirty="0"/>
              <a:t>The CNN models used in images act to extract features, then predict based on those features. </a:t>
            </a:r>
          </a:p>
          <a:p>
            <a:pPr lvl="1">
              <a:lnSpc>
                <a:spcPct val="110000"/>
              </a:lnSpc>
            </a:pPr>
            <a:r>
              <a:rPr lang="en-US" dirty="0"/>
              <a:t>Inherently splitable. </a:t>
            </a:r>
          </a:p>
          <a:p>
            <a:pPr>
              <a:lnSpc>
                <a:spcPct val="110000"/>
              </a:lnSpc>
            </a:pPr>
            <a:endParaRPr lang="en-US" dirty="0"/>
          </a:p>
        </p:txBody>
      </p:sp>
    </p:spTree>
    <p:extLst>
      <p:ext uri="{BB962C8B-B14F-4D97-AF65-F5344CB8AC3E}">
        <p14:creationId xmlns:p14="http://schemas.microsoft.com/office/powerpoint/2010/main" val="1722616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B3D6A-8E5D-8744-9081-398F8EEC1589}"/>
              </a:ext>
            </a:extLst>
          </p:cNvPr>
          <p:cNvSpPr>
            <a:spLocks noGrp="1"/>
          </p:cNvSpPr>
          <p:nvPr>
            <p:ph type="title"/>
          </p:nvPr>
        </p:nvSpPr>
        <p:spPr/>
        <p:txBody>
          <a:bodyPr/>
          <a:lstStyle/>
          <a:p>
            <a:r>
              <a:rPr lang="en-US" dirty="0"/>
              <a:t>NLP - Word2Vec</a:t>
            </a:r>
          </a:p>
        </p:txBody>
      </p:sp>
      <p:sp>
        <p:nvSpPr>
          <p:cNvPr id="3" name="Content Placeholder 2">
            <a:extLst>
              <a:ext uri="{FF2B5EF4-FFF2-40B4-BE49-F238E27FC236}">
                <a16:creationId xmlns:a16="http://schemas.microsoft.com/office/drawing/2014/main" id="{87EC723F-7121-CE49-BA8E-50F664CD75D5}"/>
              </a:ext>
            </a:extLst>
          </p:cNvPr>
          <p:cNvSpPr>
            <a:spLocks noGrp="1"/>
          </p:cNvSpPr>
          <p:nvPr>
            <p:ph idx="1"/>
          </p:nvPr>
        </p:nvSpPr>
        <p:spPr>
          <a:xfrm>
            <a:off x="1451579" y="1853754"/>
            <a:ext cx="9603275" cy="4199727"/>
          </a:xfrm>
        </p:spPr>
        <p:txBody>
          <a:bodyPr/>
          <a:lstStyle/>
          <a:p>
            <a:r>
              <a:rPr lang="en-US" dirty="0"/>
              <a:t>Word2Vec is an example of transferred learning. </a:t>
            </a:r>
          </a:p>
          <a:p>
            <a:pPr lvl="1"/>
            <a:r>
              <a:rPr lang="en-US" dirty="0"/>
              <a:t>Takes in some unstructured data, returns a feature set for a model. </a:t>
            </a:r>
          </a:p>
          <a:p>
            <a:pPr lvl="1"/>
            <a:r>
              <a:rPr lang="en-US" dirty="0"/>
              <a:t>Other NLP models such as Glove do similar things. </a:t>
            </a:r>
          </a:p>
          <a:p>
            <a:r>
              <a:rPr lang="en-US" dirty="0"/>
              <a:t>Utilizes pretrained models on massive amounts of text. </a:t>
            </a:r>
          </a:p>
          <a:p>
            <a:pPr lvl="1"/>
            <a:r>
              <a:rPr lang="en-US" dirty="0"/>
              <a:t>Google’s News dataset has over 100 billion words. </a:t>
            </a:r>
          </a:p>
          <a:p>
            <a:r>
              <a:rPr lang="en-US" dirty="0"/>
              <a:t>Language is pretty repetitive, so models can learn on massive sets of training data. </a:t>
            </a:r>
          </a:p>
          <a:p>
            <a:r>
              <a:rPr lang="en-US" dirty="0"/>
              <a:t>This super smart model can help us by applying that knowledge:</a:t>
            </a:r>
          </a:p>
          <a:p>
            <a:pPr lvl="1"/>
            <a:r>
              <a:rPr lang="en-US" dirty="0"/>
              <a:t>Better understanding of language, so better vectorization. </a:t>
            </a:r>
          </a:p>
          <a:p>
            <a:pPr lvl="1"/>
            <a:r>
              <a:rPr lang="en-US" dirty="0"/>
              <a:t>Ability to evaluate sentiment or similarity based on large dataset of training. </a:t>
            </a:r>
          </a:p>
        </p:txBody>
      </p:sp>
      <p:pic>
        <p:nvPicPr>
          <p:cNvPr id="4" name="Picture 3" descr="All about Embeddings - Word2Vec, Glove, FastText, ELMo, InferSent and  Sentence-BERT | Medium">
            <a:extLst>
              <a:ext uri="{FF2B5EF4-FFF2-40B4-BE49-F238E27FC236}">
                <a16:creationId xmlns:a16="http://schemas.microsoft.com/office/drawing/2014/main" id="{598D6E31-4C58-2E52-9A63-2BA91CC43662}"/>
              </a:ext>
            </a:extLst>
          </p:cNvPr>
          <p:cNvPicPr>
            <a:picLocks noChangeAspect="1"/>
          </p:cNvPicPr>
          <p:nvPr/>
        </p:nvPicPr>
        <p:blipFill>
          <a:blip r:embed="rId2"/>
          <a:stretch>
            <a:fillRect/>
          </a:stretch>
        </p:blipFill>
        <p:spPr>
          <a:xfrm>
            <a:off x="7853516" y="0"/>
            <a:ext cx="4338484" cy="2274605"/>
          </a:xfrm>
          <a:prstGeom prst="rect">
            <a:avLst/>
          </a:prstGeom>
        </p:spPr>
      </p:pic>
    </p:spTree>
    <p:extLst>
      <p:ext uri="{BB962C8B-B14F-4D97-AF65-F5344CB8AC3E}">
        <p14:creationId xmlns:p14="http://schemas.microsoft.com/office/powerpoint/2010/main" val="15243753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499F-0956-6A4D-A59A-AF6FAC98E17A}"/>
              </a:ext>
            </a:extLst>
          </p:cNvPr>
          <p:cNvSpPr>
            <a:spLocks noGrp="1"/>
          </p:cNvSpPr>
          <p:nvPr>
            <p:ph type="title"/>
          </p:nvPr>
        </p:nvSpPr>
        <p:spPr>
          <a:xfrm>
            <a:off x="1451579" y="804519"/>
            <a:ext cx="9603275" cy="1049235"/>
          </a:xfrm>
        </p:spPr>
        <p:txBody>
          <a:bodyPr>
            <a:normAutofit/>
          </a:bodyPr>
          <a:lstStyle/>
          <a:p>
            <a:r>
              <a:rPr lang="en-US" dirty="0"/>
              <a:t>Gaming</a:t>
            </a:r>
          </a:p>
        </p:txBody>
      </p:sp>
      <p:pic>
        <p:nvPicPr>
          <p:cNvPr id="11266" name="Picture 2" descr="Google's AlphaGo AI narrowly beats the world's top human Go player -  SiliconANGLE">
            <a:extLst>
              <a:ext uri="{FF2B5EF4-FFF2-40B4-BE49-F238E27FC236}">
                <a16:creationId xmlns:a16="http://schemas.microsoft.com/office/drawing/2014/main" id="{DE01417C-CD1F-E143-B080-B4B4CE22713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tretch/>
        </p:blipFill>
        <p:spPr bwMode="auto">
          <a:xfrm>
            <a:off x="129406" y="2046277"/>
            <a:ext cx="4960443" cy="276544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F436128-0384-AF45-B7AA-C6C356FE2171}"/>
              </a:ext>
            </a:extLst>
          </p:cNvPr>
          <p:cNvSpPr>
            <a:spLocks noGrp="1"/>
          </p:cNvSpPr>
          <p:nvPr>
            <p:ph idx="1"/>
          </p:nvPr>
        </p:nvSpPr>
        <p:spPr>
          <a:xfrm>
            <a:off x="5089850" y="2015734"/>
            <a:ext cx="6972744" cy="4037747"/>
          </a:xfrm>
        </p:spPr>
        <p:txBody>
          <a:bodyPr>
            <a:normAutofit/>
          </a:bodyPr>
          <a:lstStyle/>
          <a:p>
            <a:pPr>
              <a:lnSpc>
                <a:spcPct val="110000"/>
              </a:lnSpc>
            </a:pPr>
            <a:r>
              <a:rPr lang="en-US" sz="1600" dirty="0"/>
              <a:t>A classic and old way to train game AI is to have it play itself. </a:t>
            </a:r>
          </a:p>
          <a:p>
            <a:pPr lvl="1">
              <a:lnSpc>
                <a:spcPct val="110000"/>
              </a:lnSpc>
            </a:pPr>
            <a:r>
              <a:rPr lang="en-US" sz="1600" dirty="0"/>
              <a:t>Early machine learning was an IBM guy training a checkers machine. </a:t>
            </a:r>
          </a:p>
          <a:p>
            <a:pPr>
              <a:lnSpc>
                <a:spcPct val="110000"/>
              </a:lnSpc>
            </a:pPr>
            <a:r>
              <a:rPr lang="en-US" sz="1600" dirty="0"/>
              <a:t>One application of transfer learning is video gaming. </a:t>
            </a:r>
          </a:p>
          <a:p>
            <a:pPr lvl="1">
              <a:lnSpc>
                <a:spcPct val="110000"/>
              </a:lnSpc>
            </a:pPr>
            <a:r>
              <a:rPr lang="en-US" sz="1600" dirty="0"/>
              <a:t>Watch AlphaGo: </a:t>
            </a:r>
            <a:r>
              <a:rPr lang="en-US" sz="1600" dirty="0">
                <a:hlinkClick r:id="rId3"/>
              </a:rPr>
              <a:t>https://www.youtube.com/watch?v=WXuK6gekU1Y</a:t>
            </a:r>
            <a:r>
              <a:rPr lang="en-US" sz="1600" dirty="0"/>
              <a:t> </a:t>
            </a:r>
          </a:p>
          <a:p>
            <a:pPr>
              <a:lnSpc>
                <a:spcPct val="110000"/>
              </a:lnSpc>
            </a:pPr>
            <a:r>
              <a:rPr lang="en-US" sz="1600" dirty="0"/>
              <a:t>The learning from one game can be applied to others. </a:t>
            </a:r>
          </a:p>
          <a:p>
            <a:pPr>
              <a:lnSpc>
                <a:spcPct val="110000"/>
              </a:lnSpc>
            </a:pPr>
            <a:r>
              <a:rPr lang="en-US" sz="1600" dirty="0"/>
              <a:t>Researchers are teaching AI system to learn games, based on other games:</a:t>
            </a:r>
          </a:p>
          <a:p>
            <a:pPr lvl="1">
              <a:lnSpc>
                <a:spcPct val="110000"/>
              </a:lnSpc>
            </a:pPr>
            <a:r>
              <a:rPr lang="en-US" sz="1600" dirty="0">
                <a:hlinkClick r:id="rId4"/>
              </a:rPr>
              <a:t>https://www.wired.co.uk/article/deepmind-atari-learning-sequential-memory-ewc</a:t>
            </a:r>
            <a:r>
              <a:rPr lang="en-US" sz="1600" dirty="0"/>
              <a:t> </a:t>
            </a:r>
          </a:p>
          <a:p>
            <a:pPr lvl="1">
              <a:lnSpc>
                <a:spcPct val="110000"/>
              </a:lnSpc>
            </a:pPr>
            <a:r>
              <a:rPr lang="en-CA" sz="1600" dirty="0"/>
              <a:t>"Previously, DQN had to learn how to play each game individually," the paper says. "Whereas augmenting the DQN agent with EWC allows it to learn many games in sequence without suffering from catastrophic forgetting."</a:t>
            </a:r>
            <a:endParaRPr lang="en-US" sz="1600" dirty="0"/>
          </a:p>
        </p:txBody>
      </p:sp>
    </p:spTree>
    <p:extLst>
      <p:ext uri="{BB962C8B-B14F-4D97-AF65-F5344CB8AC3E}">
        <p14:creationId xmlns:p14="http://schemas.microsoft.com/office/powerpoint/2010/main" val="4456505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486D7-230B-4D3B-A364-B5C0150A1CCA}"/>
              </a:ext>
            </a:extLst>
          </p:cNvPr>
          <p:cNvSpPr>
            <a:spLocks noGrp="1"/>
          </p:cNvSpPr>
          <p:nvPr>
            <p:ph type="title"/>
          </p:nvPr>
        </p:nvSpPr>
        <p:spPr/>
        <p:txBody>
          <a:bodyPr/>
          <a:lstStyle/>
          <a:p>
            <a:r>
              <a:rPr lang="en-US" dirty="0"/>
              <a:t>Modern Transfer Learning</a:t>
            </a:r>
          </a:p>
        </p:txBody>
      </p:sp>
      <p:sp>
        <p:nvSpPr>
          <p:cNvPr id="3" name="Content Placeholder 2">
            <a:extLst>
              <a:ext uri="{FF2B5EF4-FFF2-40B4-BE49-F238E27FC236}">
                <a16:creationId xmlns:a16="http://schemas.microsoft.com/office/drawing/2014/main" id="{2B02387F-DCFB-8C84-AFF7-6863F504A3C9}"/>
              </a:ext>
            </a:extLst>
          </p:cNvPr>
          <p:cNvSpPr>
            <a:spLocks noGrp="1"/>
          </p:cNvSpPr>
          <p:nvPr>
            <p:ph idx="1"/>
          </p:nvPr>
        </p:nvSpPr>
        <p:spPr>
          <a:xfrm>
            <a:off x="1451579" y="1853754"/>
            <a:ext cx="9603275" cy="4199727"/>
          </a:xfrm>
        </p:spPr>
        <p:txBody>
          <a:bodyPr/>
          <a:lstStyle/>
          <a:p>
            <a:r>
              <a:rPr lang="en-US" dirty="0"/>
              <a:t>In the last couple of years, the focus on repurposing models is expanding. </a:t>
            </a:r>
          </a:p>
          <a:p>
            <a:pPr lvl="1"/>
            <a:r>
              <a:rPr lang="en-US" dirty="0"/>
              <a:t>People do lots of fine-tuning on public versions of large models. </a:t>
            </a:r>
          </a:p>
          <a:p>
            <a:r>
              <a:rPr lang="en-US" dirty="0"/>
              <a:t>Training a new model that is as good as an LLM or image model is impossible. </a:t>
            </a:r>
          </a:p>
          <a:p>
            <a:pPr lvl="1"/>
            <a:r>
              <a:rPr lang="en-US" dirty="0"/>
              <a:t>The data needs are not realistic for consumers. </a:t>
            </a:r>
          </a:p>
          <a:p>
            <a:pPr lvl="1"/>
            <a:r>
              <a:rPr lang="en-US" dirty="0"/>
              <a:t>The amount of training GPU power would cost millions. </a:t>
            </a:r>
          </a:p>
          <a:p>
            <a:r>
              <a:rPr lang="en-US" dirty="0"/>
              <a:t>Creating one large model can cost 100s of millions, or more. </a:t>
            </a:r>
          </a:p>
          <a:p>
            <a:r>
              <a:rPr lang="en-US" dirty="0"/>
              <a:t>The number of ways that we can adapt trained models has been expanding. </a:t>
            </a:r>
          </a:p>
          <a:p>
            <a:pPr lvl="1"/>
            <a:r>
              <a:rPr lang="en-US" dirty="0"/>
              <a:t>Large models have very high capacity, so they can learn lots of different stuff. </a:t>
            </a:r>
          </a:p>
          <a:p>
            <a:r>
              <a:rPr lang="en-US" dirty="0"/>
              <a:t>Here are some tuning/tweaking approaches that can tailor premade models. </a:t>
            </a:r>
          </a:p>
        </p:txBody>
      </p:sp>
    </p:spTree>
    <p:extLst>
      <p:ext uri="{BB962C8B-B14F-4D97-AF65-F5344CB8AC3E}">
        <p14:creationId xmlns:p14="http://schemas.microsoft.com/office/powerpoint/2010/main" val="18245535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4122-EA2E-16D3-FF26-48A405191955}"/>
              </a:ext>
            </a:extLst>
          </p:cNvPr>
          <p:cNvSpPr>
            <a:spLocks noGrp="1"/>
          </p:cNvSpPr>
          <p:nvPr>
            <p:ph type="title"/>
          </p:nvPr>
        </p:nvSpPr>
        <p:spPr/>
        <p:txBody>
          <a:bodyPr/>
          <a:lstStyle/>
          <a:p>
            <a:r>
              <a:rPr lang="en-US" dirty="0"/>
              <a:t>Parameter Efficient Fine Tuning (PEFT)</a:t>
            </a:r>
          </a:p>
        </p:txBody>
      </p:sp>
      <p:sp>
        <p:nvSpPr>
          <p:cNvPr id="3" name="Content Placeholder 2">
            <a:extLst>
              <a:ext uri="{FF2B5EF4-FFF2-40B4-BE49-F238E27FC236}">
                <a16:creationId xmlns:a16="http://schemas.microsoft.com/office/drawing/2014/main" id="{20DCF3FB-18F5-2D15-8B3B-A53337755F91}"/>
              </a:ext>
            </a:extLst>
          </p:cNvPr>
          <p:cNvSpPr>
            <a:spLocks noGrp="1"/>
          </p:cNvSpPr>
          <p:nvPr>
            <p:ph idx="1"/>
          </p:nvPr>
        </p:nvSpPr>
        <p:spPr>
          <a:xfrm>
            <a:off x="1451579" y="1853754"/>
            <a:ext cx="9603275" cy="3925944"/>
          </a:xfrm>
        </p:spPr>
        <p:txBody>
          <a:bodyPr/>
          <a:lstStyle/>
          <a:p>
            <a:r>
              <a:rPr lang="en-US" dirty="0"/>
              <a:t>PEFT is a strategy to lock most weights, and only allow some to update. </a:t>
            </a:r>
          </a:p>
          <a:p>
            <a:pPr lvl="1"/>
            <a:r>
              <a:rPr lang="en-US" dirty="0"/>
              <a:t>If the important stuff updates, the model will learn. </a:t>
            </a:r>
          </a:p>
          <a:p>
            <a:pPr lvl="1"/>
            <a:r>
              <a:rPr lang="en-US" dirty="0"/>
              <a:t>The less is updated, the quicker it will go. </a:t>
            </a:r>
          </a:p>
          <a:p>
            <a:r>
              <a:rPr lang="en-US" dirty="0"/>
              <a:t>There are several strategies, which are mathematically different. </a:t>
            </a:r>
          </a:p>
          <a:p>
            <a:pPr lvl="1"/>
            <a:r>
              <a:rPr lang="en-US" dirty="0"/>
              <a:t>Generally involves adding/changing something to limit training to certain areas. </a:t>
            </a:r>
          </a:p>
          <a:p>
            <a:r>
              <a:rPr lang="en-US" dirty="0"/>
              <a:t>This is commonly seen with people reusing LLMs from places like </a:t>
            </a:r>
            <a:r>
              <a:rPr lang="en-US" dirty="0" err="1"/>
              <a:t>HuggingFace</a:t>
            </a:r>
            <a:r>
              <a:rPr lang="en-US" dirty="0"/>
              <a:t>. </a:t>
            </a:r>
          </a:p>
          <a:p>
            <a:pPr lvl="1"/>
            <a:endParaRPr lang="en-US" dirty="0"/>
          </a:p>
        </p:txBody>
      </p:sp>
      <p:pic>
        <p:nvPicPr>
          <p:cNvPr id="2050" name="Picture 2" descr="Diagram shows LoRA fine-tuning achieves parameter efficiency through frozen pretrained weights and reduced dimension layers. ">
            <a:extLst>
              <a:ext uri="{FF2B5EF4-FFF2-40B4-BE49-F238E27FC236}">
                <a16:creationId xmlns:a16="http://schemas.microsoft.com/office/drawing/2014/main" id="{4A2F4ADD-8471-2CDF-5581-2D909311D5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932" b="4003"/>
          <a:stretch/>
        </p:blipFill>
        <p:spPr bwMode="auto">
          <a:xfrm>
            <a:off x="1659444" y="4679704"/>
            <a:ext cx="9187543" cy="2149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877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71037-EC01-4AC1-FC41-657C932F9538}"/>
              </a:ext>
            </a:extLst>
          </p:cNvPr>
          <p:cNvSpPr>
            <a:spLocks noGrp="1"/>
          </p:cNvSpPr>
          <p:nvPr>
            <p:ph type="title"/>
          </p:nvPr>
        </p:nvSpPr>
        <p:spPr/>
        <p:txBody>
          <a:bodyPr/>
          <a:lstStyle/>
          <a:p>
            <a:r>
              <a:rPr lang="en-US" dirty="0"/>
              <a:t>Low Rank Adaptation (Lora)</a:t>
            </a:r>
          </a:p>
        </p:txBody>
      </p:sp>
      <p:sp>
        <p:nvSpPr>
          <p:cNvPr id="3" name="Content Placeholder 2">
            <a:extLst>
              <a:ext uri="{FF2B5EF4-FFF2-40B4-BE49-F238E27FC236}">
                <a16:creationId xmlns:a16="http://schemas.microsoft.com/office/drawing/2014/main" id="{F6BF16E0-B6F4-D9C8-A44C-CEA369296044}"/>
              </a:ext>
            </a:extLst>
          </p:cNvPr>
          <p:cNvSpPr>
            <a:spLocks noGrp="1"/>
          </p:cNvSpPr>
          <p:nvPr>
            <p:ph idx="1"/>
          </p:nvPr>
        </p:nvSpPr>
        <p:spPr>
          <a:xfrm>
            <a:off x="79513" y="2015732"/>
            <a:ext cx="4340088" cy="4037749"/>
          </a:xfrm>
        </p:spPr>
        <p:txBody>
          <a:bodyPr/>
          <a:lstStyle/>
          <a:p>
            <a:r>
              <a:rPr lang="en-US" dirty="0"/>
              <a:t>Lora is one fine tuning technique that is common. </a:t>
            </a:r>
          </a:p>
          <a:p>
            <a:r>
              <a:rPr lang="en-US" dirty="0"/>
              <a:t>B and A are smaller. </a:t>
            </a:r>
          </a:p>
          <a:p>
            <a:pPr lvl="1"/>
            <a:r>
              <a:rPr lang="en-CA" dirty="0"/>
              <a:t>[ W’ = W + BA ]</a:t>
            </a:r>
          </a:p>
          <a:p>
            <a:pPr lvl="1"/>
            <a:r>
              <a:rPr lang="en-CA" dirty="0"/>
              <a:t>‘Ranks’ weights by their importance. </a:t>
            </a:r>
          </a:p>
          <a:p>
            <a:r>
              <a:rPr lang="en-CA" dirty="0"/>
              <a:t>Can perform the tuning with less math. </a:t>
            </a:r>
            <a:endParaRPr lang="en-US" dirty="0"/>
          </a:p>
        </p:txBody>
      </p:sp>
      <p:pic>
        <p:nvPicPr>
          <p:cNvPr id="4" name="Picture 3" descr="Practical Tips for Finetuning LLMs Using LoRA (Low-Rank Adaptation)">
            <a:extLst>
              <a:ext uri="{FF2B5EF4-FFF2-40B4-BE49-F238E27FC236}">
                <a16:creationId xmlns:a16="http://schemas.microsoft.com/office/drawing/2014/main" id="{8F50FDDB-7FCA-E7CF-12B0-C10B6BC6DC28}"/>
              </a:ext>
            </a:extLst>
          </p:cNvPr>
          <p:cNvPicPr>
            <a:picLocks noChangeAspect="1"/>
          </p:cNvPicPr>
          <p:nvPr/>
        </p:nvPicPr>
        <p:blipFill>
          <a:blip r:embed="rId2"/>
          <a:stretch>
            <a:fillRect/>
          </a:stretch>
        </p:blipFill>
        <p:spPr>
          <a:xfrm>
            <a:off x="4419600" y="2201937"/>
            <a:ext cx="7772400" cy="3264408"/>
          </a:xfrm>
          <a:prstGeom prst="rect">
            <a:avLst/>
          </a:prstGeom>
        </p:spPr>
      </p:pic>
    </p:spTree>
    <p:extLst>
      <p:ext uri="{BB962C8B-B14F-4D97-AF65-F5344CB8AC3E}">
        <p14:creationId xmlns:p14="http://schemas.microsoft.com/office/powerpoint/2010/main" val="33382598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753E1-EEC0-51A2-64D6-5449EAC35532}"/>
              </a:ext>
            </a:extLst>
          </p:cNvPr>
          <p:cNvSpPr>
            <a:spLocks noGrp="1"/>
          </p:cNvSpPr>
          <p:nvPr>
            <p:ph type="title"/>
          </p:nvPr>
        </p:nvSpPr>
        <p:spPr/>
        <p:txBody>
          <a:bodyPr/>
          <a:lstStyle/>
          <a:p>
            <a:r>
              <a:rPr lang="en-US" dirty="0"/>
              <a:t>Non-Transfer Learning, but still sharing</a:t>
            </a:r>
          </a:p>
        </p:txBody>
      </p:sp>
      <p:sp>
        <p:nvSpPr>
          <p:cNvPr id="3" name="Content Placeholder 2">
            <a:extLst>
              <a:ext uri="{FF2B5EF4-FFF2-40B4-BE49-F238E27FC236}">
                <a16:creationId xmlns:a16="http://schemas.microsoft.com/office/drawing/2014/main" id="{42CC1687-BD61-A308-96CD-F514C46C386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127629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CEB65-D561-05F2-4201-7FBDFAA3D45F}"/>
              </a:ext>
            </a:extLst>
          </p:cNvPr>
          <p:cNvSpPr>
            <a:spLocks noGrp="1"/>
          </p:cNvSpPr>
          <p:nvPr>
            <p:ph type="title"/>
          </p:nvPr>
        </p:nvSpPr>
        <p:spPr/>
        <p:txBody>
          <a:bodyPr/>
          <a:lstStyle/>
          <a:p>
            <a:r>
              <a:rPr lang="en-US" dirty="0"/>
              <a:t>RAG - Language Models</a:t>
            </a:r>
          </a:p>
        </p:txBody>
      </p:sp>
      <p:sp>
        <p:nvSpPr>
          <p:cNvPr id="3" name="Content Placeholder 2">
            <a:extLst>
              <a:ext uri="{FF2B5EF4-FFF2-40B4-BE49-F238E27FC236}">
                <a16:creationId xmlns:a16="http://schemas.microsoft.com/office/drawing/2014/main" id="{DE57C6A0-0ED2-9B54-C21F-3F285D99AEBC}"/>
              </a:ext>
            </a:extLst>
          </p:cNvPr>
          <p:cNvSpPr>
            <a:spLocks noGrp="1"/>
          </p:cNvSpPr>
          <p:nvPr>
            <p:ph idx="1"/>
          </p:nvPr>
        </p:nvSpPr>
        <p:spPr>
          <a:xfrm>
            <a:off x="51619" y="1853754"/>
            <a:ext cx="4952449" cy="4199727"/>
          </a:xfrm>
        </p:spPr>
        <p:txBody>
          <a:bodyPr>
            <a:normAutofit/>
          </a:bodyPr>
          <a:lstStyle/>
          <a:p>
            <a:r>
              <a:rPr lang="en-US" dirty="0"/>
              <a:t>Retrieval-Augmented Generation (RAG) can be used to tailor language models. </a:t>
            </a:r>
          </a:p>
          <a:p>
            <a:r>
              <a:rPr lang="en-US" dirty="0"/>
              <a:t>Provide a scenario-specific context to a trained model for that prediction. </a:t>
            </a:r>
          </a:p>
          <a:p>
            <a:pPr lvl="1"/>
            <a:r>
              <a:rPr lang="en-US" dirty="0"/>
              <a:t>Kind of like “answer this, given this body of knowledge”.</a:t>
            </a:r>
          </a:p>
          <a:p>
            <a:r>
              <a:rPr lang="en-US" dirty="0"/>
              <a:t>This isn’t retraining, but kind of similar – the question is pre-seeded with context.</a:t>
            </a:r>
          </a:p>
          <a:p>
            <a:r>
              <a:rPr lang="en-US" dirty="0"/>
              <a:t>Vector </a:t>
            </a:r>
            <a:r>
              <a:rPr lang="en-US" dirty="0" err="1"/>
              <a:t>db</a:t>
            </a:r>
            <a:r>
              <a:rPr lang="en-US" dirty="0"/>
              <a:t> is reference data, </a:t>
            </a:r>
            <a:r>
              <a:rPr lang="en-US" dirty="0" err="1"/>
              <a:t>prevectorized</a:t>
            </a:r>
            <a:r>
              <a:rPr lang="en-US" dirty="0"/>
              <a:t>.  </a:t>
            </a:r>
          </a:p>
          <a:p>
            <a:endParaRPr lang="en-US" dirty="0"/>
          </a:p>
        </p:txBody>
      </p:sp>
      <p:pic>
        <p:nvPicPr>
          <p:cNvPr id="1026" name="Picture 2" descr="NVIDIA diagram of how RAG works with LLMs">
            <a:extLst>
              <a:ext uri="{FF2B5EF4-FFF2-40B4-BE49-F238E27FC236}">
                <a16:creationId xmlns:a16="http://schemas.microsoft.com/office/drawing/2014/main" id="{485101A6-84A3-266E-62E7-635E7D490E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69" y="2604116"/>
            <a:ext cx="7187932" cy="316250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Word Embeddings in NLP - GeeksforGeeks">
            <a:extLst>
              <a:ext uri="{FF2B5EF4-FFF2-40B4-BE49-F238E27FC236}">
                <a16:creationId xmlns:a16="http://schemas.microsoft.com/office/drawing/2014/main" id="{26186FC1-DFC2-EE77-E754-92B045EFC2ED}"/>
              </a:ext>
            </a:extLst>
          </p:cNvPr>
          <p:cNvPicPr>
            <a:picLocks noChangeAspect="1"/>
          </p:cNvPicPr>
          <p:nvPr/>
        </p:nvPicPr>
        <p:blipFill>
          <a:blip r:embed="rId3"/>
          <a:stretch>
            <a:fillRect/>
          </a:stretch>
        </p:blipFill>
        <p:spPr>
          <a:xfrm>
            <a:off x="7112000" y="59136"/>
            <a:ext cx="5080000" cy="2540000"/>
          </a:xfrm>
          <a:prstGeom prst="rect">
            <a:avLst/>
          </a:prstGeom>
        </p:spPr>
      </p:pic>
    </p:spTree>
    <p:extLst>
      <p:ext uri="{BB962C8B-B14F-4D97-AF65-F5344CB8AC3E}">
        <p14:creationId xmlns:p14="http://schemas.microsoft.com/office/powerpoint/2010/main" val="18201869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47593-E120-469F-8CA8-10F24969B923}"/>
              </a:ext>
            </a:extLst>
          </p:cNvPr>
          <p:cNvSpPr>
            <a:spLocks noGrp="1"/>
          </p:cNvSpPr>
          <p:nvPr>
            <p:ph type="title"/>
          </p:nvPr>
        </p:nvSpPr>
        <p:spPr/>
        <p:txBody>
          <a:bodyPr/>
          <a:lstStyle/>
          <a:p>
            <a:r>
              <a:rPr lang="en-US" dirty="0"/>
              <a:t>Rags</a:t>
            </a:r>
          </a:p>
        </p:txBody>
      </p:sp>
      <p:sp>
        <p:nvSpPr>
          <p:cNvPr id="3" name="Content Placeholder 2">
            <a:extLst>
              <a:ext uri="{FF2B5EF4-FFF2-40B4-BE49-F238E27FC236}">
                <a16:creationId xmlns:a16="http://schemas.microsoft.com/office/drawing/2014/main" id="{D99741F4-404C-622E-4865-140AF5245956}"/>
              </a:ext>
            </a:extLst>
          </p:cNvPr>
          <p:cNvSpPr>
            <a:spLocks noGrp="1"/>
          </p:cNvSpPr>
          <p:nvPr>
            <p:ph idx="1"/>
          </p:nvPr>
        </p:nvSpPr>
        <p:spPr>
          <a:xfrm>
            <a:off x="6629400" y="1853754"/>
            <a:ext cx="5562600" cy="4292009"/>
          </a:xfrm>
        </p:spPr>
        <p:txBody>
          <a:bodyPr>
            <a:normAutofit lnSpcReduction="10000"/>
          </a:bodyPr>
          <a:lstStyle/>
          <a:p>
            <a:r>
              <a:rPr lang="en-US" dirty="0"/>
              <a:t>RAG creates a LLM that is setup to work ‘within’ the knowledge provided. </a:t>
            </a:r>
          </a:p>
          <a:p>
            <a:r>
              <a:rPr lang="en-US" dirty="0"/>
              <a:t>The vector databases are </a:t>
            </a:r>
            <a:r>
              <a:rPr lang="en-US" dirty="0" err="1"/>
              <a:t>db</a:t>
            </a:r>
            <a:r>
              <a:rPr lang="en-US" dirty="0"/>
              <a:t> of embedding values.</a:t>
            </a:r>
          </a:p>
          <a:p>
            <a:pPr lvl="1"/>
            <a:r>
              <a:rPr lang="en-US" dirty="0"/>
              <a:t>E.g. company policy or documentation. </a:t>
            </a:r>
          </a:p>
          <a:p>
            <a:pPr lvl="1"/>
            <a:r>
              <a:rPr lang="en-US" dirty="0"/>
              <a:t>This is the ‘library’ of knowledge the model uses.</a:t>
            </a:r>
          </a:p>
          <a:p>
            <a:r>
              <a:rPr lang="en-US" dirty="0"/>
              <a:t>Model uses </a:t>
            </a:r>
            <a:r>
              <a:rPr lang="en-US" dirty="0" err="1"/>
              <a:t>db</a:t>
            </a:r>
            <a:r>
              <a:rPr lang="en-US" dirty="0"/>
              <a:t> as a reference. </a:t>
            </a:r>
          </a:p>
          <a:p>
            <a:r>
              <a:rPr lang="en-US" dirty="0"/>
              <a:t>If you have reference material, can work well. </a:t>
            </a:r>
          </a:p>
          <a:p>
            <a:pPr lvl="1"/>
            <a:r>
              <a:rPr lang="en-US" dirty="0"/>
              <a:t>Requires the front-end setup work.  </a:t>
            </a:r>
          </a:p>
          <a:p>
            <a:r>
              <a:rPr lang="en-US" dirty="0"/>
              <a:t>Responses are </a:t>
            </a:r>
            <a:r>
              <a:rPr lang="en-US" dirty="0" err="1"/>
              <a:t>db</a:t>
            </a:r>
            <a:r>
              <a:rPr lang="en-US" dirty="0"/>
              <a:t> knowledge + LLM generation. </a:t>
            </a:r>
          </a:p>
          <a:p>
            <a:pPr lvl="1"/>
            <a:r>
              <a:rPr lang="en-US" dirty="0"/>
              <a:t>Model can talk, </a:t>
            </a:r>
            <a:r>
              <a:rPr lang="en-US" dirty="0" err="1"/>
              <a:t>db</a:t>
            </a:r>
            <a:r>
              <a:rPr lang="en-US" dirty="0"/>
              <a:t> has the right info (hopefully). </a:t>
            </a:r>
          </a:p>
        </p:txBody>
      </p:sp>
      <p:pic>
        <p:nvPicPr>
          <p:cNvPr id="4" name="Picture 3" descr="DoorDash RAG system architecture">
            <a:extLst>
              <a:ext uri="{FF2B5EF4-FFF2-40B4-BE49-F238E27FC236}">
                <a16:creationId xmlns:a16="http://schemas.microsoft.com/office/drawing/2014/main" id="{0CC38481-8DAA-EB06-FD63-C5818BC1FF25}"/>
              </a:ext>
            </a:extLst>
          </p:cNvPr>
          <p:cNvPicPr>
            <a:picLocks noChangeAspect="1"/>
          </p:cNvPicPr>
          <p:nvPr/>
        </p:nvPicPr>
        <p:blipFill>
          <a:blip r:embed="rId2"/>
          <a:srcRect l="7701" r="4656"/>
          <a:stretch>
            <a:fillRect/>
          </a:stretch>
        </p:blipFill>
        <p:spPr>
          <a:xfrm>
            <a:off x="0" y="1961535"/>
            <a:ext cx="6629400" cy="3914436"/>
          </a:xfrm>
          <a:prstGeom prst="rect">
            <a:avLst/>
          </a:prstGeom>
        </p:spPr>
      </p:pic>
    </p:spTree>
    <p:extLst>
      <p:ext uri="{BB962C8B-B14F-4D97-AF65-F5344CB8AC3E}">
        <p14:creationId xmlns:p14="http://schemas.microsoft.com/office/powerpoint/2010/main" val="31860897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C6862-3D0F-6F7A-3058-3086F7706D3E}"/>
              </a:ext>
            </a:extLst>
          </p:cNvPr>
          <p:cNvSpPr>
            <a:spLocks noGrp="1"/>
          </p:cNvSpPr>
          <p:nvPr>
            <p:ph type="title"/>
          </p:nvPr>
        </p:nvSpPr>
        <p:spPr/>
        <p:txBody>
          <a:bodyPr/>
          <a:lstStyle/>
          <a:p>
            <a:r>
              <a:rPr lang="en-US" dirty="0"/>
              <a:t>Long Context</a:t>
            </a:r>
          </a:p>
        </p:txBody>
      </p:sp>
      <p:sp>
        <p:nvSpPr>
          <p:cNvPr id="3" name="Content Placeholder 2">
            <a:extLst>
              <a:ext uri="{FF2B5EF4-FFF2-40B4-BE49-F238E27FC236}">
                <a16:creationId xmlns:a16="http://schemas.microsoft.com/office/drawing/2014/main" id="{8C3EC448-06BE-2ED7-8F2B-0EBD7DA0C231}"/>
              </a:ext>
            </a:extLst>
          </p:cNvPr>
          <p:cNvSpPr>
            <a:spLocks noGrp="1"/>
          </p:cNvSpPr>
          <p:nvPr>
            <p:ph idx="1"/>
          </p:nvPr>
        </p:nvSpPr>
        <p:spPr>
          <a:xfrm>
            <a:off x="1" y="1909665"/>
            <a:ext cx="5405284" cy="4236098"/>
          </a:xfrm>
        </p:spPr>
        <p:txBody>
          <a:bodyPr>
            <a:normAutofit fontScale="92500" lnSpcReduction="10000"/>
          </a:bodyPr>
          <a:lstStyle/>
          <a:p>
            <a:r>
              <a:rPr lang="en-US" dirty="0"/>
              <a:t>Long context LLMs are similar to RAG in intent. </a:t>
            </a:r>
          </a:p>
          <a:p>
            <a:pPr lvl="1"/>
            <a:r>
              <a:rPr lang="en-US" dirty="0"/>
              <a:t>Perform within certain info environments. </a:t>
            </a:r>
          </a:p>
          <a:p>
            <a:r>
              <a:rPr lang="en-US" dirty="0"/>
              <a:t>Context is the “short term memory” of an LLM.</a:t>
            </a:r>
          </a:p>
          <a:p>
            <a:pPr lvl="1"/>
            <a:r>
              <a:rPr lang="en-US" dirty="0"/>
              <a:t>Can be a million tokens or more.  </a:t>
            </a:r>
          </a:p>
          <a:p>
            <a:r>
              <a:rPr lang="en-US" dirty="0"/>
              <a:t>L.C. package all the context into a prompt. </a:t>
            </a:r>
          </a:p>
          <a:p>
            <a:pPr lvl="1"/>
            <a:r>
              <a:rPr lang="en-US" dirty="0"/>
              <a:t>Read this document and summarize. </a:t>
            </a:r>
          </a:p>
          <a:p>
            <a:pPr lvl="1"/>
            <a:r>
              <a:rPr lang="en-US" dirty="0"/>
              <a:t>Entire doc and prompt are sent as one to LLM. </a:t>
            </a:r>
          </a:p>
          <a:p>
            <a:r>
              <a:rPr lang="en-US" dirty="0"/>
              <a:t>Many of the companies online that provide ‘chatbots’ are this (or RAGs). </a:t>
            </a:r>
          </a:p>
          <a:p>
            <a:pPr lvl="1"/>
            <a:r>
              <a:rPr lang="en-US" dirty="0"/>
              <a:t>Provide company policies to a chatbot and get custom answers. </a:t>
            </a:r>
          </a:p>
          <a:p>
            <a:endParaRPr lang="en-US" dirty="0"/>
          </a:p>
        </p:txBody>
      </p:sp>
      <p:pic>
        <p:nvPicPr>
          <p:cNvPr id="4" name="Picture 3" descr="RAG vs. Long-Context LLMs: The Ultimate AI Showdown | by SOHAM GHADGE |  Medium">
            <a:extLst>
              <a:ext uri="{FF2B5EF4-FFF2-40B4-BE49-F238E27FC236}">
                <a16:creationId xmlns:a16="http://schemas.microsoft.com/office/drawing/2014/main" id="{0849D972-1156-824F-6515-943D84B2A3DC}"/>
              </a:ext>
            </a:extLst>
          </p:cNvPr>
          <p:cNvPicPr>
            <a:picLocks noChangeAspect="1"/>
          </p:cNvPicPr>
          <p:nvPr/>
        </p:nvPicPr>
        <p:blipFill>
          <a:blip r:embed="rId2"/>
          <a:srcRect b="6103"/>
          <a:stretch>
            <a:fillRect/>
          </a:stretch>
        </p:blipFill>
        <p:spPr>
          <a:xfrm>
            <a:off x="5405285" y="2260232"/>
            <a:ext cx="6786716" cy="3584543"/>
          </a:xfrm>
          <a:prstGeom prst="rect">
            <a:avLst/>
          </a:prstGeom>
        </p:spPr>
      </p:pic>
    </p:spTree>
    <p:extLst>
      <p:ext uri="{BB962C8B-B14F-4D97-AF65-F5344CB8AC3E}">
        <p14:creationId xmlns:p14="http://schemas.microsoft.com/office/powerpoint/2010/main" val="24845184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D923D-068F-4F11-AAA8-578E11995D8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69F435-2243-442E-8957-1E552DFA8E53}"/>
              </a:ext>
            </a:extLst>
          </p:cNvPr>
          <p:cNvSpPr>
            <a:spLocks noGrp="1"/>
          </p:cNvSpPr>
          <p:nvPr>
            <p:ph idx="1"/>
          </p:nvPr>
        </p:nvSpPr>
        <p:spPr/>
        <p:txBody>
          <a:bodyPr/>
          <a:lstStyle/>
          <a:p>
            <a:endParaRPr lang="en-US"/>
          </a:p>
        </p:txBody>
      </p:sp>
      <p:pic>
        <p:nvPicPr>
          <p:cNvPr id="4" name="Picture 3" descr="What Is Reinforcement Learning? - MATLAB &amp; Simulink">
            <a:extLst>
              <a:ext uri="{FF2B5EF4-FFF2-40B4-BE49-F238E27FC236}">
                <a16:creationId xmlns:a16="http://schemas.microsoft.com/office/drawing/2014/main" id="{A0F269ED-49E7-6AF9-C257-204BEE6C1906}"/>
              </a:ext>
            </a:extLst>
          </p:cNvPr>
          <p:cNvPicPr>
            <a:picLocks noChangeAspect="1"/>
          </p:cNvPicPr>
          <p:nvPr/>
        </p:nvPicPr>
        <p:blipFill>
          <a:blip r:embed="rId2"/>
          <a:stretch>
            <a:fillRect/>
          </a:stretch>
        </p:blipFill>
        <p:spPr>
          <a:xfrm>
            <a:off x="2286000" y="1498600"/>
            <a:ext cx="7620000" cy="3860800"/>
          </a:xfrm>
          <a:prstGeom prst="rect">
            <a:avLst/>
          </a:prstGeom>
        </p:spPr>
      </p:pic>
    </p:spTree>
    <p:extLst>
      <p:ext uri="{BB962C8B-B14F-4D97-AF65-F5344CB8AC3E}">
        <p14:creationId xmlns:p14="http://schemas.microsoft.com/office/powerpoint/2010/main" val="26228786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9EF7F-2D80-9C61-E75B-6890F570297D}"/>
              </a:ext>
            </a:extLst>
          </p:cNvPr>
          <p:cNvSpPr>
            <a:spLocks noGrp="1"/>
          </p:cNvSpPr>
          <p:nvPr>
            <p:ph type="title"/>
          </p:nvPr>
        </p:nvSpPr>
        <p:spPr>
          <a:xfrm>
            <a:off x="1128253" y="804519"/>
            <a:ext cx="9926602" cy="1049235"/>
          </a:xfrm>
        </p:spPr>
        <p:txBody>
          <a:bodyPr/>
          <a:lstStyle/>
          <a:p>
            <a:r>
              <a:rPr lang="en-US" dirty="0"/>
              <a:t>Reinforcement Learning</a:t>
            </a:r>
          </a:p>
        </p:txBody>
      </p:sp>
      <p:sp>
        <p:nvSpPr>
          <p:cNvPr id="3" name="Content Placeholder 2">
            <a:extLst>
              <a:ext uri="{FF2B5EF4-FFF2-40B4-BE49-F238E27FC236}">
                <a16:creationId xmlns:a16="http://schemas.microsoft.com/office/drawing/2014/main" id="{05A0E8CF-EF18-4002-361C-62A3212B7A7D}"/>
              </a:ext>
            </a:extLst>
          </p:cNvPr>
          <p:cNvSpPr>
            <a:spLocks noGrp="1"/>
          </p:cNvSpPr>
          <p:nvPr>
            <p:ph idx="1"/>
          </p:nvPr>
        </p:nvSpPr>
        <p:spPr>
          <a:xfrm>
            <a:off x="0" y="2456953"/>
            <a:ext cx="8991600" cy="3654093"/>
          </a:xfrm>
        </p:spPr>
        <p:txBody>
          <a:bodyPr>
            <a:normAutofit/>
          </a:bodyPr>
          <a:lstStyle/>
          <a:p>
            <a:r>
              <a:rPr lang="en-US" dirty="0"/>
              <a:t>Especially for generative models, we can use reinforcement. </a:t>
            </a:r>
          </a:p>
          <a:p>
            <a:r>
              <a:rPr lang="en-US" dirty="0"/>
              <a:t>RL is the domain of making models that learn in response to ‘grading’.</a:t>
            </a:r>
          </a:p>
          <a:p>
            <a:pPr lvl="1"/>
            <a:r>
              <a:rPr lang="en-US" dirty="0"/>
              <a:t>If the result is good, the model gets a ‘reward’, if not, a ‘penalty’. </a:t>
            </a:r>
          </a:p>
          <a:p>
            <a:pPr lvl="1"/>
            <a:r>
              <a:rPr lang="en-US" dirty="0"/>
              <a:t>This feedback is used by the model to tune its weights. </a:t>
            </a:r>
          </a:p>
          <a:p>
            <a:r>
              <a:rPr lang="en-US" dirty="0"/>
              <a:t>Seen with humans or AI as the decider – generate 2 sentences, human picks best. </a:t>
            </a:r>
          </a:p>
          <a:p>
            <a:r>
              <a:rPr lang="en-US" dirty="0"/>
              <a:t>Motion models often incorporate this – hitting things is bad, middle of lane is good. </a:t>
            </a:r>
          </a:p>
          <a:p>
            <a:r>
              <a:rPr lang="en-US" dirty="0"/>
              <a:t>The feedback functions as the loss – each prediction is judged, adjust on that. </a:t>
            </a:r>
          </a:p>
        </p:txBody>
      </p:sp>
      <p:pic>
        <p:nvPicPr>
          <p:cNvPr id="4" name="Picture 3" descr="What is RLHF? - Reinforcement Learning from Human Feedback Explained - AWS">
            <a:extLst>
              <a:ext uri="{FF2B5EF4-FFF2-40B4-BE49-F238E27FC236}">
                <a16:creationId xmlns:a16="http://schemas.microsoft.com/office/drawing/2014/main" id="{C67BC807-AB73-C5BC-D881-8D3AD1C0A6EB}"/>
              </a:ext>
            </a:extLst>
          </p:cNvPr>
          <p:cNvPicPr>
            <a:picLocks noChangeAspect="1"/>
          </p:cNvPicPr>
          <p:nvPr/>
        </p:nvPicPr>
        <p:blipFill>
          <a:blip r:embed="rId2"/>
          <a:srcRect l="31626" r="27198"/>
          <a:stretch>
            <a:fillRect/>
          </a:stretch>
        </p:blipFill>
        <p:spPr>
          <a:xfrm>
            <a:off x="8991599" y="2658273"/>
            <a:ext cx="3200401" cy="3452774"/>
          </a:xfrm>
          <a:prstGeom prst="rect">
            <a:avLst/>
          </a:prstGeom>
        </p:spPr>
      </p:pic>
      <p:pic>
        <p:nvPicPr>
          <p:cNvPr id="5" name="Picture 4" descr="Reinforcement Learning with Human Feedback (RLHF) Pipeline for... |  Download Scientific Diagram">
            <a:extLst>
              <a:ext uri="{FF2B5EF4-FFF2-40B4-BE49-F238E27FC236}">
                <a16:creationId xmlns:a16="http://schemas.microsoft.com/office/drawing/2014/main" id="{A48AB812-FC8C-D4CE-C3C2-0140053C685F}"/>
              </a:ext>
            </a:extLst>
          </p:cNvPr>
          <p:cNvPicPr>
            <a:picLocks noChangeAspect="1"/>
          </p:cNvPicPr>
          <p:nvPr/>
        </p:nvPicPr>
        <p:blipFill>
          <a:blip r:embed="rId3"/>
          <a:stretch>
            <a:fillRect/>
          </a:stretch>
        </p:blipFill>
        <p:spPr>
          <a:xfrm>
            <a:off x="6796704" y="-1"/>
            <a:ext cx="5395296" cy="3008671"/>
          </a:xfrm>
          <a:prstGeom prst="rect">
            <a:avLst/>
          </a:prstGeom>
        </p:spPr>
      </p:pic>
    </p:spTree>
    <p:extLst>
      <p:ext uri="{BB962C8B-B14F-4D97-AF65-F5344CB8AC3E}">
        <p14:creationId xmlns:p14="http://schemas.microsoft.com/office/powerpoint/2010/main" val="36929920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C5A8E-C0B3-A853-DD86-C5D7595A688C}"/>
              </a:ext>
            </a:extLst>
          </p:cNvPr>
          <p:cNvSpPr>
            <a:spLocks noGrp="1"/>
          </p:cNvSpPr>
          <p:nvPr>
            <p:ph type="title"/>
          </p:nvPr>
        </p:nvSpPr>
        <p:spPr/>
        <p:txBody>
          <a:bodyPr/>
          <a:lstStyle/>
          <a:p>
            <a:r>
              <a:rPr lang="en-US" dirty="0"/>
              <a:t>Reinforcement</a:t>
            </a:r>
          </a:p>
        </p:txBody>
      </p:sp>
      <p:sp>
        <p:nvSpPr>
          <p:cNvPr id="3" name="Content Placeholder 2">
            <a:extLst>
              <a:ext uri="{FF2B5EF4-FFF2-40B4-BE49-F238E27FC236}">
                <a16:creationId xmlns:a16="http://schemas.microsoft.com/office/drawing/2014/main" id="{E7226AC6-9C11-EF47-01A1-FF468844305C}"/>
              </a:ext>
            </a:extLst>
          </p:cNvPr>
          <p:cNvSpPr>
            <a:spLocks noGrp="1"/>
          </p:cNvSpPr>
          <p:nvPr>
            <p:ph idx="1"/>
          </p:nvPr>
        </p:nvSpPr>
        <p:spPr>
          <a:xfrm>
            <a:off x="1451579" y="1853754"/>
            <a:ext cx="9603275" cy="1710595"/>
          </a:xfrm>
        </p:spPr>
        <p:txBody>
          <a:bodyPr>
            <a:normAutofit/>
          </a:bodyPr>
          <a:lstStyle/>
          <a:p>
            <a:r>
              <a:rPr lang="en-US" dirty="0"/>
              <a:t>LLMs used reinforcement in training. </a:t>
            </a:r>
          </a:p>
          <a:p>
            <a:pPr lvl="1"/>
            <a:r>
              <a:rPr lang="en-US" dirty="0"/>
              <a:t>Generate 2+ responses for a given prompt. </a:t>
            </a:r>
          </a:p>
          <a:p>
            <a:pPr lvl="1"/>
            <a:r>
              <a:rPr lang="en-US" dirty="0"/>
              <a:t>Human votes for winner, which gets points. </a:t>
            </a:r>
          </a:p>
          <a:p>
            <a:r>
              <a:rPr lang="en-US" dirty="0"/>
              <a:t>Robots that learn how to walk or navigate are often reinforcement learning. </a:t>
            </a:r>
          </a:p>
        </p:txBody>
      </p:sp>
      <p:pic>
        <p:nvPicPr>
          <p:cNvPr id="4" name="Picture 3" descr="Basics of Reinforcement Learning for LLMs">
            <a:extLst>
              <a:ext uri="{FF2B5EF4-FFF2-40B4-BE49-F238E27FC236}">
                <a16:creationId xmlns:a16="http://schemas.microsoft.com/office/drawing/2014/main" id="{D5CC3818-A424-3274-6A0E-2164DB5147CE}"/>
              </a:ext>
            </a:extLst>
          </p:cNvPr>
          <p:cNvPicPr>
            <a:picLocks noChangeAspect="1"/>
          </p:cNvPicPr>
          <p:nvPr/>
        </p:nvPicPr>
        <p:blipFill>
          <a:blip r:embed="rId2"/>
          <a:stretch>
            <a:fillRect/>
          </a:stretch>
        </p:blipFill>
        <p:spPr>
          <a:xfrm>
            <a:off x="2209800" y="3564349"/>
            <a:ext cx="7772400" cy="2638219"/>
          </a:xfrm>
          <a:prstGeom prst="rect">
            <a:avLst/>
          </a:prstGeom>
        </p:spPr>
      </p:pic>
      <p:pic>
        <p:nvPicPr>
          <p:cNvPr id="5" name="Picture 4" descr="A Complete Guide to Boost Your Business with Reinforcement Learning">
            <a:extLst>
              <a:ext uri="{FF2B5EF4-FFF2-40B4-BE49-F238E27FC236}">
                <a16:creationId xmlns:a16="http://schemas.microsoft.com/office/drawing/2014/main" id="{01B7113E-C6A0-6CDF-900E-BF60A650A95C}"/>
              </a:ext>
            </a:extLst>
          </p:cNvPr>
          <p:cNvPicPr>
            <a:picLocks noChangeAspect="1"/>
          </p:cNvPicPr>
          <p:nvPr/>
        </p:nvPicPr>
        <p:blipFill>
          <a:blip r:embed="rId3"/>
          <a:stretch>
            <a:fillRect/>
          </a:stretch>
        </p:blipFill>
        <p:spPr>
          <a:xfrm>
            <a:off x="8241416" y="300162"/>
            <a:ext cx="3835400" cy="2743200"/>
          </a:xfrm>
          <a:prstGeom prst="rect">
            <a:avLst/>
          </a:prstGeom>
        </p:spPr>
      </p:pic>
    </p:spTree>
    <p:extLst>
      <p:ext uri="{BB962C8B-B14F-4D97-AF65-F5344CB8AC3E}">
        <p14:creationId xmlns:p14="http://schemas.microsoft.com/office/powerpoint/2010/main" val="25598976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CB2C2-8577-E0AB-7192-10B76B01888A}"/>
              </a:ext>
            </a:extLst>
          </p:cNvPr>
          <p:cNvSpPr>
            <a:spLocks noGrp="1"/>
          </p:cNvSpPr>
          <p:nvPr>
            <p:ph type="title"/>
          </p:nvPr>
        </p:nvSpPr>
        <p:spPr>
          <a:xfrm>
            <a:off x="1451579" y="804519"/>
            <a:ext cx="9603275" cy="1049235"/>
          </a:xfrm>
        </p:spPr>
        <p:txBody>
          <a:bodyPr>
            <a:normAutofit/>
          </a:bodyPr>
          <a:lstStyle/>
          <a:p>
            <a:r>
              <a:rPr lang="en-US" dirty="0"/>
              <a:t>AGENTS</a:t>
            </a:r>
          </a:p>
        </p:txBody>
      </p:sp>
      <p:pic>
        <p:nvPicPr>
          <p:cNvPr id="4098" name="Picture 2" descr="4-levels-LLM-customization">
            <a:extLst>
              <a:ext uri="{FF2B5EF4-FFF2-40B4-BE49-F238E27FC236}">
                <a16:creationId xmlns:a16="http://schemas.microsoft.com/office/drawing/2014/main" id="{535BDFD5-529F-DE8E-F78F-011CE5D8BB1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0030" y="2015734"/>
            <a:ext cx="5541228" cy="286681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06D4211-6B74-6CA2-B6A8-D8700F589277}"/>
              </a:ext>
            </a:extLst>
          </p:cNvPr>
          <p:cNvSpPr>
            <a:spLocks noGrp="1"/>
          </p:cNvSpPr>
          <p:nvPr>
            <p:ph idx="1"/>
          </p:nvPr>
        </p:nvSpPr>
        <p:spPr>
          <a:xfrm>
            <a:off x="5661258" y="1853754"/>
            <a:ext cx="6530743" cy="4199727"/>
          </a:xfrm>
        </p:spPr>
        <p:txBody>
          <a:bodyPr>
            <a:normAutofit/>
          </a:bodyPr>
          <a:lstStyle/>
          <a:p>
            <a:r>
              <a:rPr lang="en-US" dirty="0"/>
              <a:t>Agents wrap a trained model (usually an LLM) in a structure for a specific domain. </a:t>
            </a:r>
          </a:p>
          <a:p>
            <a:r>
              <a:rPr lang="en-US" dirty="0"/>
              <a:t>The ‘wrapper’ do anything:</a:t>
            </a:r>
          </a:p>
          <a:p>
            <a:pPr lvl="1"/>
            <a:r>
              <a:rPr lang="en-US" sz="2000" dirty="0"/>
              <a:t>Provide context like RAG.</a:t>
            </a:r>
          </a:p>
          <a:p>
            <a:pPr lvl="1"/>
            <a:r>
              <a:rPr lang="en-US" sz="2000" dirty="0"/>
              <a:t>Translate inputs or outputs. </a:t>
            </a:r>
          </a:p>
          <a:p>
            <a:pPr lvl="1"/>
            <a:r>
              <a:rPr lang="en-US" sz="2000" dirty="0"/>
              <a:t>Augment queries, </a:t>
            </a:r>
            <a:r>
              <a:rPr lang="en-US" sz="2000" dirty="0" err="1"/>
              <a:t>etc</a:t>
            </a:r>
            <a:r>
              <a:rPr lang="en-US" sz="2000" dirty="0"/>
              <a:t>…</a:t>
            </a:r>
          </a:p>
          <a:p>
            <a:pPr lvl="1"/>
            <a:r>
              <a:rPr lang="en-US" sz="2000" dirty="0"/>
              <a:t>Search custom information first. </a:t>
            </a:r>
          </a:p>
          <a:p>
            <a:r>
              <a:rPr lang="en-US" dirty="0"/>
              <a:t>’Tools’ can allow the LLM to do/read specific things. </a:t>
            </a:r>
          </a:p>
          <a:p>
            <a:r>
              <a:rPr lang="en-US" dirty="0"/>
              <a:t>From the outside, it is ‘custom’. </a:t>
            </a:r>
          </a:p>
        </p:txBody>
      </p:sp>
    </p:spTree>
    <p:extLst>
      <p:ext uri="{BB962C8B-B14F-4D97-AF65-F5344CB8AC3E}">
        <p14:creationId xmlns:p14="http://schemas.microsoft.com/office/powerpoint/2010/main" val="30031880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46FDE-D488-2122-3F0B-991534F0A9B5}"/>
              </a:ext>
            </a:extLst>
          </p:cNvPr>
          <p:cNvSpPr>
            <a:spLocks noGrp="1"/>
          </p:cNvSpPr>
          <p:nvPr>
            <p:ph type="title"/>
          </p:nvPr>
        </p:nvSpPr>
        <p:spPr/>
        <p:txBody>
          <a:bodyPr/>
          <a:lstStyle/>
          <a:p>
            <a:r>
              <a:rPr lang="en-US" dirty="0"/>
              <a:t>Agentic Ai</a:t>
            </a:r>
          </a:p>
        </p:txBody>
      </p:sp>
      <p:sp>
        <p:nvSpPr>
          <p:cNvPr id="3" name="Content Placeholder 2">
            <a:extLst>
              <a:ext uri="{FF2B5EF4-FFF2-40B4-BE49-F238E27FC236}">
                <a16:creationId xmlns:a16="http://schemas.microsoft.com/office/drawing/2014/main" id="{02A6DEA7-3068-411C-2EFE-2113240ADC0B}"/>
              </a:ext>
            </a:extLst>
          </p:cNvPr>
          <p:cNvSpPr>
            <a:spLocks noGrp="1"/>
          </p:cNvSpPr>
          <p:nvPr>
            <p:ph idx="1"/>
          </p:nvPr>
        </p:nvSpPr>
        <p:spPr>
          <a:xfrm>
            <a:off x="1" y="1853754"/>
            <a:ext cx="4932782" cy="4248466"/>
          </a:xfrm>
        </p:spPr>
        <p:txBody>
          <a:bodyPr>
            <a:normAutofit/>
          </a:bodyPr>
          <a:lstStyle/>
          <a:p>
            <a:r>
              <a:rPr lang="en-US" dirty="0"/>
              <a:t>Agentic AI takes the agent concept one step further. </a:t>
            </a:r>
          </a:p>
          <a:p>
            <a:pPr lvl="1"/>
            <a:r>
              <a:rPr lang="en-US" dirty="0"/>
              <a:t>Generate multiple agents, targeted at specific actions.</a:t>
            </a:r>
          </a:p>
          <a:p>
            <a:pPr lvl="1"/>
            <a:r>
              <a:rPr lang="en-US" dirty="0"/>
              <a:t>Use other agents to manage/coordinate. </a:t>
            </a:r>
          </a:p>
          <a:p>
            <a:r>
              <a:rPr lang="en-US" dirty="0"/>
              <a:t>Design systems to leverage AI actors. </a:t>
            </a:r>
          </a:p>
          <a:p>
            <a:r>
              <a:rPr lang="en-US" dirty="0"/>
              <a:t>Diff models or configs for diff tasks. </a:t>
            </a:r>
          </a:p>
          <a:p>
            <a:r>
              <a:rPr lang="en-US" dirty="0"/>
              <a:t>Can create code to help an agent. </a:t>
            </a:r>
          </a:p>
          <a:p>
            <a:pPr lvl="1"/>
            <a:r>
              <a:rPr lang="en-US" dirty="0"/>
              <a:t>E.g. if you need </a:t>
            </a:r>
            <a:r>
              <a:rPr lang="en-US" dirty="0" err="1"/>
              <a:t>hr</a:t>
            </a:r>
            <a:r>
              <a:rPr lang="en-US" dirty="0"/>
              <a:t> data, can add tool to get.</a:t>
            </a:r>
          </a:p>
        </p:txBody>
      </p:sp>
      <p:pic>
        <p:nvPicPr>
          <p:cNvPr id="4" name="Picture 3" descr="What Are Agentic Workflows? Patterns, Memory, Use Cases, and Examples |  Weaviate">
            <a:extLst>
              <a:ext uri="{FF2B5EF4-FFF2-40B4-BE49-F238E27FC236}">
                <a16:creationId xmlns:a16="http://schemas.microsoft.com/office/drawing/2014/main" id="{BAEA8634-7B1D-8987-D307-F08E5A643BF0}"/>
              </a:ext>
            </a:extLst>
          </p:cNvPr>
          <p:cNvPicPr>
            <a:picLocks noChangeAspect="1"/>
          </p:cNvPicPr>
          <p:nvPr/>
        </p:nvPicPr>
        <p:blipFill>
          <a:blip r:embed="rId2"/>
          <a:srcRect l="3961" r="3841"/>
          <a:stretch>
            <a:fillRect/>
          </a:stretch>
        </p:blipFill>
        <p:spPr>
          <a:xfrm>
            <a:off x="4932783" y="1730245"/>
            <a:ext cx="7165910" cy="4371975"/>
          </a:xfrm>
          <a:prstGeom prst="rect">
            <a:avLst/>
          </a:prstGeom>
        </p:spPr>
      </p:pic>
    </p:spTree>
    <p:extLst>
      <p:ext uri="{BB962C8B-B14F-4D97-AF65-F5344CB8AC3E}">
        <p14:creationId xmlns:p14="http://schemas.microsoft.com/office/powerpoint/2010/main" val="9500759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52514-7790-4ECF-C68F-490EC5E03B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2C3411D-9ACC-06F5-5CCD-204E9AF40360}"/>
              </a:ext>
            </a:extLst>
          </p:cNvPr>
          <p:cNvSpPr>
            <a:spLocks noGrp="1"/>
          </p:cNvSpPr>
          <p:nvPr>
            <p:ph idx="1"/>
          </p:nvPr>
        </p:nvSpPr>
        <p:spPr/>
        <p:txBody>
          <a:bodyPr/>
          <a:lstStyle/>
          <a:p>
            <a:endParaRPr lang="en-US"/>
          </a:p>
        </p:txBody>
      </p:sp>
      <p:pic>
        <p:nvPicPr>
          <p:cNvPr id="4" name="Picture 3" descr="Gen AI vs AI Agent vs Agentic AI — What's the difference ? | by Sanghamitra  | Artificial Intelligence in Plain English">
            <a:extLst>
              <a:ext uri="{FF2B5EF4-FFF2-40B4-BE49-F238E27FC236}">
                <a16:creationId xmlns:a16="http://schemas.microsoft.com/office/drawing/2014/main" id="{7373F2EA-8ABB-995B-0430-FD828430245B}"/>
              </a:ext>
            </a:extLst>
          </p:cNvPr>
          <p:cNvPicPr>
            <a:picLocks noChangeAspect="1"/>
          </p:cNvPicPr>
          <p:nvPr/>
        </p:nvPicPr>
        <p:blipFill>
          <a:blip r:embed="rId2"/>
          <a:srcRect b="3711"/>
          <a:stretch>
            <a:fillRect/>
          </a:stretch>
        </p:blipFill>
        <p:spPr>
          <a:xfrm>
            <a:off x="360634" y="0"/>
            <a:ext cx="11470732" cy="6166867"/>
          </a:xfrm>
          <a:prstGeom prst="rect">
            <a:avLst/>
          </a:prstGeom>
        </p:spPr>
      </p:pic>
    </p:spTree>
    <p:extLst>
      <p:ext uri="{BB962C8B-B14F-4D97-AF65-F5344CB8AC3E}">
        <p14:creationId xmlns:p14="http://schemas.microsoft.com/office/powerpoint/2010/main" val="22441069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D4A3B-2647-323B-0DAB-DE190094814A}"/>
              </a:ext>
            </a:extLst>
          </p:cNvPr>
          <p:cNvSpPr>
            <a:spLocks noGrp="1"/>
          </p:cNvSpPr>
          <p:nvPr>
            <p:ph type="title"/>
          </p:nvPr>
        </p:nvSpPr>
        <p:spPr/>
        <p:txBody>
          <a:bodyPr/>
          <a:lstStyle/>
          <a:p>
            <a:r>
              <a:rPr lang="en-US" dirty="0"/>
              <a:t>Sharing these Models</a:t>
            </a:r>
          </a:p>
        </p:txBody>
      </p:sp>
      <p:sp>
        <p:nvSpPr>
          <p:cNvPr id="3" name="Content Placeholder 2">
            <a:extLst>
              <a:ext uri="{FF2B5EF4-FFF2-40B4-BE49-F238E27FC236}">
                <a16:creationId xmlns:a16="http://schemas.microsoft.com/office/drawing/2014/main" id="{E07FBEFF-541D-CE51-4C59-AF4051927374}"/>
              </a:ext>
            </a:extLst>
          </p:cNvPr>
          <p:cNvSpPr>
            <a:spLocks noGrp="1"/>
          </p:cNvSpPr>
          <p:nvPr>
            <p:ph idx="1"/>
          </p:nvPr>
        </p:nvSpPr>
        <p:spPr>
          <a:xfrm>
            <a:off x="1451579" y="1909666"/>
            <a:ext cx="9603275" cy="3906416"/>
          </a:xfrm>
        </p:spPr>
        <p:txBody>
          <a:bodyPr/>
          <a:lstStyle/>
          <a:p>
            <a:r>
              <a:rPr lang="en-US" dirty="0"/>
              <a:t>Smart models that are used in these examples tend to be large. </a:t>
            </a:r>
          </a:p>
          <a:p>
            <a:pPr lvl="1"/>
            <a:r>
              <a:rPr lang="en-US" dirty="0"/>
              <a:t>Huge number of parameters = high GPU ram needs. </a:t>
            </a:r>
          </a:p>
          <a:p>
            <a:pPr lvl="1"/>
            <a:r>
              <a:rPr lang="en-US" dirty="0"/>
              <a:t>Time to train can be extreme. </a:t>
            </a:r>
          </a:p>
          <a:p>
            <a:r>
              <a:rPr lang="en-US" dirty="0"/>
              <a:t>The good models can’t run on (most) consumer </a:t>
            </a:r>
            <a:r>
              <a:rPr lang="en-US" dirty="0" err="1"/>
              <a:t>hw</a:t>
            </a:r>
            <a:r>
              <a:rPr lang="en-US" dirty="0"/>
              <a:t> due to memory constraints. </a:t>
            </a:r>
          </a:p>
          <a:p>
            <a:pPr lvl="1"/>
            <a:r>
              <a:rPr lang="en-US" dirty="0"/>
              <a:t>Those that can, tend to be slow. </a:t>
            </a:r>
          </a:p>
          <a:p>
            <a:pPr lvl="1"/>
            <a:r>
              <a:rPr lang="en-US" dirty="0"/>
              <a:t>A100s on Google have 40Gb of video ram, a model that size can’t run many places. </a:t>
            </a:r>
          </a:p>
          <a:p>
            <a:pPr lvl="2"/>
            <a:r>
              <a:rPr lang="en-US" dirty="0"/>
              <a:t>(People are buying mac minis with ram maxed out because ram is shared. Slow but can run large models. )</a:t>
            </a:r>
          </a:p>
        </p:txBody>
      </p:sp>
    </p:spTree>
    <p:extLst>
      <p:ext uri="{BB962C8B-B14F-4D97-AF65-F5344CB8AC3E}">
        <p14:creationId xmlns:p14="http://schemas.microsoft.com/office/powerpoint/2010/main" val="33806833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C8480-1C5C-A39B-900C-4953D1B2BF8F}"/>
              </a:ext>
            </a:extLst>
          </p:cNvPr>
          <p:cNvSpPr>
            <a:spLocks noGrp="1"/>
          </p:cNvSpPr>
          <p:nvPr>
            <p:ph type="title"/>
          </p:nvPr>
        </p:nvSpPr>
        <p:spPr>
          <a:xfrm>
            <a:off x="1451579" y="804519"/>
            <a:ext cx="9603275" cy="1049235"/>
          </a:xfrm>
        </p:spPr>
        <p:txBody>
          <a:bodyPr>
            <a:normAutofit/>
          </a:bodyPr>
          <a:lstStyle/>
          <a:p>
            <a:r>
              <a:rPr lang="en-US" dirty="0"/>
              <a:t>Quantization</a:t>
            </a:r>
          </a:p>
        </p:txBody>
      </p:sp>
      <p:sp>
        <p:nvSpPr>
          <p:cNvPr id="3" name="Content Placeholder 2">
            <a:extLst>
              <a:ext uri="{FF2B5EF4-FFF2-40B4-BE49-F238E27FC236}">
                <a16:creationId xmlns:a16="http://schemas.microsoft.com/office/drawing/2014/main" id="{1830B83D-BACC-C24D-0FA7-B9CD477E7878}"/>
              </a:ext>
            </a:extLst>
          </p:cNvPr>
          <p:cNvSpPr>
            <a:spLocks noGrp="1"/>
          </p:cNvSpPr>
          <p:nvPr>
            <p:ph idx="1"/>
          </p:nvPr>
        </p:nvSpPr>
        <p:spPr>
          <a:xfrm>
            <a:off x="1" y="1853754"/>
            <a:ext cx="5193054" cy="4199727"/>
          </a:xfrm>
        </p:spPr>
        <p:txBody>
          <a:bodyPr>
            <a:normAutofit/>
          </a:bodyPr>
          <a:lstStyle/>
          <a:p>
            <a:pPr>
              <a:lnSpc>
                <a:spcPct val="110000"/>
              </a:lnSpc>
            </a:pPr>
            <a:r>
              <a:rPr lang="en-US" sz="1700" dirty="0"/>
              <a:t>Quantization is reducing the precision of the numbers in the model. </a:t>
            </a:r>
          </a:p>
          <a:p>
            <a:pPr lvl="1">
              <a:lnSpc>
                <a:spcPct val="110000"/>
              </a:lnSpc>
            </a:pPr>
            <a:r>
              <a:rPr lang="en-US" sz="1700" dirty="0"/>
              <a:t>There are lots of very long numbers, they need to be calculated regularly. </a:t>
            </a:r>
          </a:p>
          <a:p>
            <a:pPr lvl="1">
              <a:lnSpc>
                <a:spcPct val="110000"/>
              </a:lnSpc>
            </a:pPr>
            <a:r>
              <a:rPr lang="en-US" sz="1700" dirty="0"/>
              <a:t>If these numbers get smaller (in size, not value), those calculations are quicker. </a:t>
            </a:r>
          </a:p>
          <a:p>
            <a:pPr>
              <a:lnSpc>
                <a:spcPct val="110000"/>
              </a:lnSpc>
            </a:pPr>
            <a:r>
              <a:rPr lang="en-US" sz="1700" dirty="0"/>
              <a:t>Large models are usually ‘quantized’ if being released to the public, so they work on normal GPUs. </a:t>
            </a:r>
          </a:p>
          <a:p>
            <a:pPr>
              <a:lnSpc>
                <a:spcPct val="110000"/>
              </a:lnSpc>
            </a:pPr>
            <a:r>
              <a:rPr lang="en-US" sz="1700" dirty="0"/>
              <a:t>Quality can be kept high, while size drops. </a:t>
            </a:r>
          </a:p>
          <a:p>
            <a:pPr lvl="1">
              <a:lnSpc>
                <a:spcPct val="110000"/>
              </a:lnSpc>
            </a:pPr>
            <a:r>
              <a:rPr lang="en-US" sz="1500" dirty="0"/>
              <a:t>More quantizing, worse model. </a:t>
            </a:r>
          </a:p>
          <a:p>
            <a:pPr>
              <a:lnSpc>
                <a:spcPct val="110000"/>
              </a:lnSpc>
            </a:pPr>
            <a:r>
              <a:rPr lang="en-US" sz="1700" dirty="0"/>
              <a:t>Smaller models are usable on more systems. </a:t>
            </a:r>
          </a:p>
          <a:p>
            <a:pPr lvl="1">
              <a:lnSpc>
                <a:spcPct val="110000"/>
              </a:lnSpc>
            </a:pPr>
            <a:r>
              <a:rPr lang="en-US" sz="1500" dirty="0"/>
              <a:t>Best models often can’t run on consumer HW*. </a:t>
            </a:r>
          </a:p>
        </p:txBody>
      </p:sp>
      <p:pic>
        <p:nvPicPr>
          <p:cNvPr id="5122" name="Picture 2" descr="Master the Art of Quantization: A Practical Guide | by Jan Marcel Kezmann |  Medium">
            <a:extLst>
              <a:ext uri="{FF2B5EF4-FFF2-40B4-BE49-F238E27FC236}">
                <a16:creationId xmlns:a16="http://schemas.microsoft.com/office/drawing/2014/main" id="{BAC8479F-6576-932C-CEC9-F662DA16D0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80" t="25822" r="1866" b="12616"/>
          <a:stretch/>
        </p:blipFill>
        <p:spPr bwMode="auto">
          <a:xfrm>
            <a:off x="5142443" y="1912775"/>
            <a:ext cx="7049556" cy="3243943"/>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E0BBA9E9-3341-5260-B901-669C5AC4DEB7}"/>
              </a:ext>
            </a:extLst>
          </p:cNvPr>
          <p:cNvSpPr txBox="1">
            <a:spLocks/>
          </p:cNvSpPr>
          <p:nvPr/>
        </p:nvSpPr>
        <p:spPr>
          <a:xfrm>
            <a:off x="5142443" y="5156718"/>
            <a:ext cx="7049556" cy="982825"/>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nSpc>
                <a:spcPct val="110000"/>
              </a:lnSpc>
            </a:pPr>
            <a:r>
              <a:rPr lang="en-US" sz="1700" dirty="0"/>
              <a:t>Real example - can train a driving model on PC, then make a quantized version to run on a raspberry pi or similar. </a:t>
            </a:r>
            <a:endParaRPr lang="en-US" sz="1500" dirty="0"/>
          </a:p>
        </p:txBody>
      </p:sp>
      <p:pic>
        <p:nvPicPr>
          <p:cNvPr id="6" name="Picture 5" descr="GitHub - dctian/DeepPiCar: Deep Learning Autonomous Car based on Raspberry  Pi, SunFounder PiCar-V Kit, TensorFlow, and Google's EdgeTPU Co-Processor">
            <a:extLst>
              <a:ext uri="{FF2B5EF4-FFF2-40B4-BE49-F238E27FC236}">
                <a16:creationId xmlns:a16="http://schemas.microsoft.com/office/drawing/2014/main" id="{C629950C-E154-6216-C65B-82F8E7051C4C}"/>
              </a:ext>
            </a:extLst>
          </p:cNvPr>
          <p:cNvPicPr>
            <a:picLocks noChangeAspect="1"/>
          </p:cNvPicPr>
          <p:nvPr/>
        </p:nvPicPr>
        <p:blipFill>
          <a:blip r:embed="rId3"/>
          <a:stretch>
            <a:fillRect/>
          </a:stretch>
        </p:blipFill>
        <p:spPr>
          <a:xfrm>
            <a:off x="8360229" y="1"/>
            <a:ext cx="3831770" cy="1903112"/>
          </a:xfrm>
          <a:prstGeom prst="rect">
            <a:avLst/>
          </a:prstGeom>
        </p:spPr>
      </p:pic>
    </p:spTree>
    <p:extLst>
      <p:ext uri="{BB962C8B-B14F-4D97-AF65-F5344CB8AC3E}">
        <p14:creationId xmlns:p14="http://schemas.microsoft.com/office/powerpoint/2010/main" val="29301601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6CB06-C62E-0B02-E9B8-B3764AB9905D}"/>
              </a:ext>
            </a:extLst>
          </p:cNvPr>
          <p:cNvSpPr>
            <a:spLocks noGrp="1"/>
          </p:cNvSpPr>
          <p:nvPr>
            <p:ph type="title"/>
          </p:nvPr>
        </p:nvSpPr>
        <p:spPr/>
        <p:txBody>
          <a:bodyPr/>
          <a:lstStyle/>
          <a:p>
            <a:r>
              <a:rPr lang="en-US" dirty="0"/>
              <a:t>Quantization</a:t>
            </a:r>
          </a:p>
        </p:txBody>
      </p:sp>
      <p:sp>
        <p:nvSpPr>
          <p:cNvPr id="3" name="Content Placeholder 2">
            <a:extLst>
              <a:ext uri="{FF2B5EF4-FFF2-40B4-BE49-F238E27FC236}">
                <a16:creationId xmlns:a16="http://schemas.microsoft.com/office/drawing/2014/main" id="{08573C03-F4AB-471E-0564-A08E1D2EC052}"/>
              </a:ext>
            </a:extLst>
          </p:cNvPr>
          <p:cNvSpPr>
            <a:spLocks noGrp="1"/>
          </p:cNvSpPr>
          <p:nvPr>
            <p:ph idx="1"/>
          </p:nvPr>
        </p:nvSpPr>
        <p:spPr>
          <a:xfrm>
            <a:off x="5839841" y="2015732"/>
            <a:ext cx="6352159" cy="3450613"/>
          </a:xfrm>
        </p:spPr>
        <p:txBody>
          <a:bodyPr/>
          <a:lstStyle/>
          <a:p>
            <a:r>
              <a:rPr lang="en-US" dirty="0"/>
              <a:t>The math isn’t quite as simple as “go truncate it”. </a:t>
            </a:r>
          </a:p>
          <a:p>
            <a:r>
              <a:rPr lang="en-US" dirty="0"/>
              <a:t>Mapping to lower dimensions is smart.</a:t>
            </a:r>
          </a:p>
          <a:p>
            <a:pPr lvl="1"/>
            <a:r>
              <a:rPr lang="en-US" dirty="0"/>
              <a:t>Calculate min/max, use that to generate mapping.  </a:t>
            </a:r>
          </a:p>
          <a:p>
            <a:r>
              <a:rPr lang="en-US" dirty="0"/>
              <a:t>Performance degrades more slowly than size.</a:t>
            </a:r>
          </a:p>
          <a:p>
            <a:r>
              <a:rPr lang="en-US" dirty="0"/>
              <a:t>Many/most big models that are shard will be quantized.  </a:t>
            </a:r>
          </a:p>
          <a:p>
            <a:r>
              <a:rPr lang="en-US" dirty="0"/>
              <a:t>This is normally transparent to us unless publishing. </a:t>
            </a:r>
          </a:p>
        </p:txBody>
      </p:sp>
      <p:pic>
        <p:nvPicPr>
          <p:cNvPr id="5" name="Picture 4" descr="A Visual Guide to Quantization - by Maarten Grootendorst">
            <a:extLst>
              <a:ext uri="{FF2B5EF4-FFF2-40B4-BE49-F238E27FC236}">
                <a16:creationId xmlns:a16="http://schemas.microsoft.com/office/drawing/2014/main" id="{E12101C2-58C7-B3F3-C3C7-CB9F63A56071}"/>
              </a:ext>
            </a:extLst>
          </p:cNvPr>
          <p:cNvPicPr>
            <a:picLocks noChangeAspect="1"/>
          </p:cNvPicPr>
          <p:nvPr/>
        </p:nvPicPr>
        <p:blipFill>
          <a:blip r:embed="rId2"/>
          <a:stretch>
            <a:fillRect/>
          </a:stretch>
        </p:blipFill>
        <p:spPr>
          <a:xfrm>
            <a:off x="0" y="1909916"/>
            <a:ext cx="5839841" cy="4225413"/>
          </a:xfrm>
          <a:prstGeom prst="rect">
            <a:avLst/>
          </a:prstGeom>
        </p:spPr>
      </p:pic>
    </p:spTree>
    <p:extLst>
      <p:ext uri="{BB962C8B-B14F-4D97-AF65-F5344CB8AC3E}">
        <p14:creationId xmlns:p14="http://schemas.microsoft.com/office/powerpoint/2010/main" val="14009528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AD88-CF93-C68E-A180-FDF2E09FD5CF}"/>
              </a:ext>
            </a:extLst>
          </p:cNvPr>
          <p:cNvSpPr>
            <a:spLocks noGrp="1"/>
          </p:cNvSpPr>
          <p:nvPr>
            <p:ph type="title"/>
          </p:nvPr>
        </p:nvSpPr>
        <p:spPr/>
        <p:txBody>
          <a:bodyPr/>
          <a:lstStyle/>
          <a:p>
            <a:r>
              <a:rPr lang="en-US" dirty="0"/>
              <a:t>Tuning models for Fun and Profit</a:t>
            </a:r>
          </a:p>
        </p:txBody>
      </p:sp>
      <p:sp>
        <p:nvSpPr>
          <p:cNvPr id="3" name="Content Placeholder 2">
            <a:extLst>
              <a:ext uri="{FF2B5EF4-FFF2-40B4-BE49-F238E27FC236}">
                <a16:creationId xmlns:a16="http://schemas.microsoft.com/office/drawing/2014/main" id="{BE77A7A1-5E81-EFAA-2B78-589ED271D88B}"/>
              </a:ext>
            </a:extLst>
          </p:cNvPr>
          <p:cNvSpPr>
            <a:spLocks noGrp="1"/>
          </p:cNvSpPr>
          <p:nvPr>
            <p:ph idx="1"/>
          </p:nvPr>
        </p:nvSpPr>
        <p:spPr>
          <a:xfrm>
            <a:off x="1451579" y="1853754"/>
            <a:ext cx="9603275" cy="4199727"/>
          </a:xfrm>
        </p:spPr>
        <p:txBody>
          <a:bodyPr/>
          <a:lstStyle/>
          <a:p>
            <a:r>
              <a:rPr lang="en-US" dirty="0"/>
              <a:t>Adjusting/customizing/tuning existing models will be a very important thing. </a:t>
            </a:r>
          </a:p>
          <a:p>
            <a:pPr lvl="1"/>
            <a:r>
              <a:rPr lang="en-US" dirty="0"/>
              <a:t>The best models are simply unmatchable without a large budget – this may increase. </a:t>
            </a:r>
          </a:p>
          <a:p>
            <a:pPr lvl="1"/>
            <a:r>
              <a:rPr lang="en-US" dirty="0"/>
              <a:t>In the future, assembling data that isn’t AI generated, at scale, may be very hard. </a:t>
            </a:r>
          </a:p>
          <a:p>
            <a:pPr lvl="1"/>
            <a:r>
              <a:rPr lang="en-US" dirty="0"/>
              <a:t>I’d suspect that people who learn how to smartly retrain models will be a large career. </a:t>
            </a:r>
          </a:p>
          <a:p>
            <a:r>
              <a:rPr lang="en-US" dirty="0"/>
              <a:t>In many/most cases the limitation is the amount of GPU/RAM/time we can have. </a:t>
            </a:r>
          </a:p>
          <a:p>
            <a:pPr lvl="1"/>
            <a:r>
              <a:rPr lang="en-US" dirty="0"/>
              <a:t>Every one of these tailoring choices is a large compromise. </a:t>
            </a:r>
          </a:p>
          <a:p>
            <a:pPr lvl="1"/>
            <a:r>
              <a:rPr lang="en-US" dirty="0"/>
              <a:t>Amount/quality of our data, GPU/RAM, time, budget, current model performance, # trials…</a:t>
            </a:r>
          </a:p>
          <a:p>
            <a:r>
              <a:rPr lang="en-US" dirty="0"/>
              <a:t>People are constantly working on this all over, so it changes quickly. </a:t>
            </a:r>
          </a:p>
          <a:p>
            <a:pPr lvl="1"/>
            <a:r>
              <a:rPr lang="en-US" dirty="0"/>
              <a:t>Things are being developed both based on theory, and empirical observation. </a:t>
            </a:r>
          </a:p>
          <a:p>
            <a:pPr lvl="1"/>
            <a:r>
              <a:rPr lang="en-US" dirty="0"/>
              <a:t>Changes all through the pipeline data-&gt;embedding-&gt;model-&gt;model internals are happening. </a:t>
            </a:r>
          </a:p>
        </p:txBody>
      </p:sp>
    </p:spTree>
    <p:extLst>
      <p:ext uri="{BB962C8B-B14F-4D97-AF65-F5344CB8AC3E}">
        <p14:creationId xmlns:p14="http://schemas.microsoft.com/office/powerpoint/2010/main" val="29379994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4002E-A4A5-4141-AC04-BCEA11FB458A}"/>
              </a:ext>
            </a:extLst>
          </p:cNvPr>
          <p:cNvSpPr>
            <a:spLocks noGrp="1"/>
          </p:cNvSpPr>
          <p:nvPr>
            <p:ph type="title"/>
          </p:nvPr>
        </p:nvSpPr>
        <p:spPr/>
        <p:txBody>
          <a:bodyPr/>
          <a:lstStyle/>
          <a:p>
            <a:r>
              <a:rPr lang="en-US" dirty="0"/>
              <a:t>Get a Job!</a:t>
            </a:r>
          </a:p>
        </p:txBody>
      </p:sp>
      <p:sp>
        <p:nvSpPr>
          <p:cNvPr id="3" name="Content Placeholder 2">
            <a:extLst>
              <a:ext uri="{FF2B5EF4-FFF2-40B4-BE49-F238E27FC236}">
                <a16:creationId xmlns:a16="http://schemas.microsoft.com/office/drawing/2014/main" id="{6420217A-36CA-F0DD-7172-07788CB9016A}"/>
              </a:ext>
            </a:extLst>
          </p:cNvPr>
          <p:cNvSpPr>
            <a:spLocks noGrp="1"/>
          </p:cNvSpPr>
          <p:nvPr>
            <p:ph idx="1"/>
          </p:nvPr>
        </p:nvSpPr>
        <p:spPr>
          <a:xfrm>
            <a:off x="1451579" y="1853754"/>
            <a:ext cx="9603275" cy="3612591"/>
          </a:xfrm>
        </p:spPr>
        <p:txBody>
          <a:bodyPr/>
          <a:lstStyle/>
          <a:p>
            <a:r>
              <a:rPr lang="en-US" dirty="0"/>
              <a:t>Based on a casual look at job postings, some of these things are marketable skills. </a:t>
            </a:r>
          </a:p>
          <a:p>
            <a:r>
              <a:rPr lang="en-US" dirty="0"/>
              <a:t>If you’re looking for a data science-y job, I’d probably practice some agentic stuff. </a:t>
            </a:r>
          </a:p>
          <a:p>
            <a:pPr lvl="1"/>
            <a:r>
              <a:rPr lang="en-US" dirty="0"/>
              <a:t>Building applications that use LLMs to do stuff, prompt engineering, integration of preds…</a:t>
            </a:r>
          </a:p>
          <a:p>
            <a:r>
              <a:rPr lang="en-US" dirty="0"/>
              <a:t>I suspect that ’managing LLM’ action will be a growing area. </a:t>
            </a:r>
          </a:p>
          <a:p>
            <a:pPr lvl="1"/>
            <a:r>
              <a:rPr lang="en-US" dirty="0"/>
              <a:t>Tools are better, even if not as good as people say. </a:t>
            </a:r>
          </a:p>
          <a:p>
            <a:pPr lvl="1"/>
            <a:r>
              <a:rPr lang="en-US" dirty="0"/>
              <a:t>Massive investment and executive fever cause forced use. </a:t>
            </a:r>
          </a:p>
          <a:p>
            <a:endParaRPr lang="en-US" dirty="0"/>
          </a:p>
        </p:txBody>
      </p:sp>
    </p:spTree>
    <p:extLst>
      <p:ext uri="{BB962C8B-B14F-4D97-AF65-F5344CB8AC3E}">
        <p14:creationId xmlns:p14="http://schemas.microsoft.com/office/powerpoint/2010/main" val="29142720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F15DC-8454-2C69-7101-4810A5A9FABE}"/>
              </a:ext>
            </a:extLst>
          </p:cNvPr>
          <p:cNvSpPr>
            <a:spLocks noGrp="1"/>
          </p:cNvSpPr>
          <p:nvPr>
            <p:ph type="title"/>
          </p:nvPr>
        </p:nvSpPr>
        <p:spPr/>
        <p:txBody>
          <a:bodyPr/>
          <a:lstStyle/>
          <a:p>
            <a:r>
              <a:rPr lang="en-US" dirty="0"/>
              <a:t>Some stuff is still Public…</a:t>
            </a:r>
          </a:p>
        </p:txBody>
      </p:sp>
      <p:sp>
        <p:nvSpPr>
          <p:cNvPr id="3" name="Content Placeholder 2">
            <a:extLst>
              <a:ext uri="{FF2B5EF4-FFF2-40B4-BE49-F238E27FC236}">
                <a16:creationId xmlns:a16="http://schemas.microsoft.com/office/drawing/2014/main" id="{31BF3E6C-8D63-1D5C-7583-E15CC3810860}"/>
              </a:ext>
            </a:extLst>
          </p:cNvPr>
          <p:cNvSpPr>
            <a:spLocks noGrp="1"/>
          </p:cNvSpPr>
          <p:nvPr>
            <p:ph idx="1"/>
          </p:nvPr>
        </p:nvSpPr>
        <p:spPr>
          <a:xfrm>
            <a:off x="1451579" y="1853755"/>
            <a:ext cx="9603275" cy="1881483"/>
          </a:xfrm>
        </p:spPr>
        <p:txBody>
          <a:bodyPr/>
          <a:lstStyle/>
          <a:p>
            <a:r>
              <a:rPr lang="en-US" dirty="0"/>
              <a:t>Much of the stuff that we use in data science was created for free. </a:t>
            </a:r>
          </a:p>
          <a:p>
            <a:r>
              <a:rPr lang="en-US" dirty="0"/>
              <a:t>This will probably change, but a decent amount of stuff still is on sites like </a:t>
            </a:r>
            <a:r>
              <a:rPr lang="en-US" dirty="0" err="1"/>
              <a:t>HuggingFace</a:t>
            </a:r>
            <a:r>
              <a:rPr lang="en-US" dirty="0"/>
              <a:t>. </a:t>
            </a:r>
          </a:p>
          <a:p>
            <a:r>
              <a:rPr lang="en-US" dirty="0"/>
              <a:t>You can download assorted near state-of-the-art models and use/tune them now. </a:t>
            </a:r>
          </a:p>
          <a:p>
            <a:pPr lvl="1"/>
            <a:r>
              <a:rPr lang="en-US" dirty="0"/>
              <a:t>You will be limited (usually in GPU ram) depending on the machine. </a:t>
            </a:r>
          </a:p>
        </p:txBody>
      </p:sp>
      <p:pic>
        <p:nvPicPr>
          <p:cNvPr id="4" name="Picture 3">
            <a:extLst>
              <a:ext uri="{FF2B5EF4-FFF2-40B4-BE49-F238E27FC236}">
                <a16:creationId xmlns:a16="http://schemas.microsoft.com/office/drawing/2014/main" id="{FC1AABD8-A99C-8523-1899-E16E2634EFED}"/>
              </a:ext>
            </a:extLst>
          </p:cNvPr>
          <p:cNvPicPr>
            <a:picLocks noChangeAspect="1"/>
          </p:cNvPicPr>
          <p:nvPr/>
        </p:nvPicPr>
        <p:blipFill>
          <a:blip r:embed="rId2"/>
          <a:stretch>
            <a:fillRect/>
          </a:stretch>
        </p:blipFill>
        <p:spPr>
          <a:xfrm>
            <a:off x="1444262" y="3735238"/>
            <a:ext cx="9303476" cy="3122762"/>
          </a:xfrm>
          <a:prstGeom prst="rect">
            <a:avLst/>
          </a:prstGeom>
        </p:spPr>
      </p:pic>
    </p:spTree>
    <p:extLst>
      <p:ext uri="{BB962C8B-B14F-4D97-AF65-F5344CB8AC3E}">
        <p14:creationId xmlns:p14="http://schemas.microsoft.com/office/powerpoint/2010/main" val="78974327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{2C098A6B-0D6A-6740-AB07-6AAE29A34FE3}tf10001119</Template>
  <TotalTime>9407</TotalTime>
  <Words>4014</Words>
  <Application>Microsoft Macintosh PowerPoint</Application>
  <PresentationFormat>Widescreen</PresentationFormat>
  <Paragraphs>331</Paragraphs>
  <Slides>53</Slides>
  <Notes>0</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Gill Sans MT</vt:lpstr>
      <vt:lpstr>Gallery</vt:lpstr>
      <vt:lpstr>Housekeeping</vt:lpstr>
      <vt:lpstr>AI is having a Moment…</vt:lpstr>
      <vt:lpstr>Enter “The Gospel”, “Lavender”, and “Where’s Daddy”?</vt:lpstr>
      <vt:lpstr>There’s also Robots…</vt:lpstr>
      <vt:lpstr>And additional “AI is Going to do…”</vt:lpstr>
      <vt:lpstr>This will Likely be a problem…</vt:lpstr>
      <vt:lpstr>Watch out for Foucault’s Boomerang</vt:lpstr>
      <vt:lpstr>Technofeudalism</vt:lpstr>
      <vt:lpstr>Review – Tuning Models</vt:lpstr>
      <vt:lpstr>Tuning Tools</vt:lpstr>
      <vt:lpstr>Transfer Learning</vt:lpstr>
      <vt:lpstr>Model Training</vt:lpstr>
      <vt:lpstr>Big Processors</vt:lpstr>
      <vt:lpstr>PowerPoint Presentation</vt:lpstr>
      <vt:lpstr>Big Data - Imagenet</vt:lpstr>
      <vt:lpstr>PowerPoint Presentation</vt:lpstr>
      <vt:lpstr>PowerPoint Presentation</vt:lpstr>
      <vt:lpstr>Transfer the Learning</vt:lpstr>
      <vt:lpstr>Pretrained Image Models</vt:lpstr>
      <vt:lpstr>Transfer lEarning</vt:lpstr>
      <vt:lpstr>When does it work (or not)?</vt:lpstr>
      <vt:lpstr>PowerPoint Presentation</vt:lpstr>
      <vt:lpstr>VGG16</vt:lpstr>
      <vt:lpstr>VGG16</vt:lpstr>
      <vt:lpstr>Implementing Transfer Learning</vt:lpstr>
      <vt:lpstr>Implementing Transfer Learning</vt:lpstr>
      <vt:lpstr>PowerPoint Presentation</vt:lpstr>
      <vt:lpstr>Fine Tuning</vt:lpstr>
      <vt:lpstr>More Retraining</vt:lpstr>
      <vt:lpstr>E.g. Freeze Part, retrain Part (you likely don’t want to do this w/o reason)</vt:lpstr>
      <vt:lpstr>Practical Applications</vt:lpstr>
      <vt:lpstr>Image recognition</vt:lpstr>
      <vt:lpstr>NLP - Word2Vec</vt:lpstr>
      <vt:lpstr>Gaming</vt:lpstr>
      <vt:lpstr>Modern Transfer Learning</vt:lpstr>
      <vt:lpstr>Parameter Efficient Fine Tuning (PEFT)</vt:lpstr>
      <vt:lpstr>Low Rank Adaptation (Lora)</vt:lpstr>
      <vt:lpstr>Non-Transfer Learning, but still sharing</vt:lpstr>
      <vt:lpstr>RAG - Language Models</vt:lpstr>
      <vt:lpstr>Rags</vt:lpstr>
      <vt:lpstr>Long Context</vt:lpstr>
      <vt:lpstr>PowerPoint Presentation</vt:lpstr>
      <vt:lpstr>Reinforcement Learning</vt:lpstr>
      <vt:lpstr>Reinforcement</vt:lpstr>
      <vt:lpstr>AGENTS</vt:lpstr>
      <vt:lpstr>Agentic Ai</vt:lpstr>
      <vt:lpstr>PowerPoint Presentation</vt:lpstr>
      <vt:lpstr>Sharing these Models</vt:lpstr>
      <vt:lpstr>Quantization</vt:lpstr>
      <vt:lpstr>Quantization</vt:lpstr>
      <vt:lpstr>Tuning models for Fun and Profit</vt:lpstr>
      <vt:lpstr>Get a Job!</vt:lpstr>
      <vt:lpstr>Some stuff is still Public…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Transfer Learning</dc:title>
  <dc:creator>Akeem Semper</dc:creator>
  <cp:lastModifiedBy>Akeem Semper</cp:lastModifiedBy>
  <cp:revision>65</cp:revision>
  <dcterms:created xsi:type="dcterms:W3CDTF">2022-03-31T12:58:19Z</dcterms:created>
  <dcterms:modified xsi:type="dcterms:W3CDTF">2026-03-26T20:52:47Z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2025-03-27T14:59:18Z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e2d3256e-01bc-431f-a6de-df110ee87f2f</vt:lpwstr>
  </property>
  <property fmtid="{D5CDD505-2E9C-101B-9397-08002B2CF9AE}" pid="8" name="MSIP_Label_10877899-02b0-462c-b2a9-b7d15c4f96fe_ContentBits">
    <vt:lpwstr>0</vt:lpwstr>
  </property>
</Properties>
</file>